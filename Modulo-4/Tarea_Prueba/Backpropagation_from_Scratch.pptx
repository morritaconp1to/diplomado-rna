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2103120" y="2103120"/>
            <a:ext cx="365760" cy="365760"/>
          </a:xfrm>
          <a:prstGeom prst="ellipse">
            <a:avLst/>
          </a:prstGeom>
          <a:solidFill>
            <a:srgbClr val="2563EB">
              <a:alpha val="80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2286000"/>
            <a:ext cx="1920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389120" y="2103120"/>
            <a:ext cx="365760" cy="365760"/>
          </a:xfrm>
          <a:prstGeom prst="ellipse">
            <a:avLst/>
          </a:prstGeom>
          <a:solidFill>
            <a:srgbClr val="2563EB">
              <a:alpha val="80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2286000"/>
            <a:ext cx="1920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2286000"/>
            <a:ext cx="1920240" cy="914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2286000"/>
            <a:ext cx="1920240" cy="-914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3017520"/>
            <a:ext cx="365760" cy="365760"/>
          </a:xfrm>
          <a:prstGeom prst="ellipse">
            <a:avLst/>
          </a:prstGeom>
          <a:solidFill>
            <a:srgbClr val="2563EB">
              <a:alpha val="80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3200400"/>
            <a:ext cx="1920240" cy="-914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3200400"/>
            <a:ext cx="1920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3200400"/>
            <a:ext cx="1920240" cy="-18288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188720"/>
            <a:ext cx="365760" cy="365760"/>
          </a:xfrm>
          <a:prstGeom prst="ellipse">
            <a:avLst/>
          </a:prstGeom>
          <a:solidFill>
            <a:srgbClr val="2563EB">
              <a:alpha val="80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71600"/>
            <a:ext cx="1920240" cy="914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371600"/>
            <a:ext cx="1920240" cy="18288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371600"/>
            <a:ext cx="1920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75120" y="2103120"/>
            <a:ext cx="365760" cy="365760"/>
          </a:xfrm>
          <a:prstGeom prst="ellipse">
            <a:avLst/>
          </a:prstGeom>
          <a:solidFill>
            <a:srgbClr val="059669">
              <a:alpha val="80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548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Backpropagation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desde Cero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que hace posible el aprendizaje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Redes Neuronales</a:t>
            </a:r>
            <a:endParaRPr lang="en-US" sz="13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572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2004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2,359,296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en 1 capa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1 peso = 1 forward pass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005840"/>
            <a:ext cx="43891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280160"/>
            <a:ext cx="822960" cy="502920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280160"/>
            <a:ext cx="822960" cy="502920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280160"/>
            <a:ext cx="822960" cy="502920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1280160"/>
            <a:ext cx="822960" cy="502920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011680"/>
            <a:ext cx="822960" cy="502920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011680"/>
            <a:ext cx="822960" cy="502920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011680"/>
            <a:ext cx="822960" cy="502920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2011680"/>
            <a:ext cx="822960" cy="502920"/>
          </a:xfrm>
          <a:prstGeom prst="rect">
            <a:avLst/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2.3M más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108960"/>
            <a:ext cx="7680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154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Backpropagation calcula TODOS los gradientes en UN solo backward pass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31520" y="4023360"/>
            <a:ext cx="1097280" cy="256032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1520" y="4023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Pausa y piensa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965960" y="402336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tardarías en probar 2.3M de pesos uno por uno?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097280"/>
            <a:ext cx="22860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508760" y="118872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15087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salida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17520" y="1828800"/>
            <a:ext cx="5486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306324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566160" y="1097280"/>
            <a:ext cx="22860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1887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56616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Backward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6616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gradientes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0" y="1828800"/>
            <a:ext cx="5486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589788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0" y="1097280"/>
            <a:ext cx="22860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178040" y="11887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71780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Actualizar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pesos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31520" y="2834640"/>
            <a:ext cx="1097280" cy="256032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31520" y="2834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Pausa y piensa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965960" y="28346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Detective: observa (forward) y reconstruye (backward) para hallar al culpable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 de la Cadena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188720"/>
            <a:ext cx="1188720" cy="731520"/>
          </a:xfrm>
          <a:prstGeom prst="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1188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103120" y="1554480"/>
            <a:ext cx="8229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11680" y="914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dy/dx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1188720"/>
            <a:ext cx="1188720" cy="731520"/>
          </a:xfrm>
          <a:prstGeom prst="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0" y="1188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389120" y="1554480"/>
            <a:ext cx="8229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0" y="914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dy/dx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1188720"/>
            <a:ext cx="1188720" cy="731520"/>
          </a:xfrm>
          <a:prstGeom prst="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0" y="1188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675120" y="1554480"/>
            <a:ext cx="8229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914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dy/dx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0" y="1188720"/>
            <a:ext cx="1188720" cy="731520"/>
          </a:xfrm>
          <a:prstGeom prst="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0" y="1188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dy/dx = f'(g(x)) · g'(x)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Multiplicas derivadas a lo largo de la cadena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humana: cada persona modifica y pasa el mensaje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1520" y="4206240"/>
            <a:ext cx="1097280" cy="256032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1520" y="4206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Pausa y piensa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965960" y="42062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10 personas y cada una entiende el 80%, ¿qué fracción llega al final?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Grafo Computacional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73152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3152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2926080"/>
            <a:ext cx="73152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926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1371600"/>
            <a:ext cx="73152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2286000"/>
            <a:ext cx="64008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23360" y="2286000"/>
            <a:ext cx="64008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52160" y="2286000"/>
            <a:ext cx="64008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0" y="2286000"/>
            <a:ext cx="64008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31520" y="3840480"/>
            <a:ext cx="1097280" cy="256032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1520" y="38404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Pausa y piensa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965960" y="384048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es un artículo en tu recibo. El total = la pérdida.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vs Backward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228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0" y="123444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salida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valores intermedios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657600" cy="228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12344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Backward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4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gradientes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pase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31520" y="3657600"/>
            <a:ext cx="1097280" cy="256032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" y="3657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Pausa y piensa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965960" y="365760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Cocinar = forward. Probar y ajustar la receta = backward.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del Gradiente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11680" y="1143000"/>
            <a:ext cx="6858000" cy="274320"/>
          </a:xfrm>
          <a:prstGeom prst="rect">
            <a:avLst/>
          </a:prstGeom>
          <a:solidFill>
            <a:srgbClr val="DC2626">
              <a:alpha val="70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2011680"/>
            <a:ext cx="1828800" cy="274320"/>
          </a:xfrm>
          <a:prstGeom prst="rect">
            <a:avLst/>
          </a:prstGeom>
          <a:solidFill>
            <a:srgbClr val="B45309">
              <a:alpha val="70000"/>
            </a:srgbClr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2880360"/>
            <a:ext cx="457200" cy="274320"/>
          </a:xfrm>
          <a:prstGeom prst="rect">
            <a:avLst/>
          </a:prstGeom>
          <a:solidFill>
            <a:srgbClr val="2563EB">
              <a:alpha val="70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3749040"/>
            <a:ext cx="109728" cy="274320"/>
          </a:xfrm>
          <a:prstGeom prst="rect">
            <a:avLst/>
          </a:prstGeom>
          <a:solidFill>
            <a:srgbClr val="7C3AED">
              <a:alpha val="7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0.015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31520" y="4206240"/>
            <a:ext cx="1097280" cy="256032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1520" y="4206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Pausa y piensa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965960" y="42062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teléfono descompuesto: el mensaje (gradiente) se debilita en cada capa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Gradientes Vanishing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capa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11680" y="1170432"/>
            <a:ext cx="5486400" cy="274320"/>
          </a:xfrm>
          <a:prstGeom prst="rect">
            <a:avLst/>
          </a:prstGeom>
          <a:solidFill>
            <a:srgbClr val="059669">
              <a:alpha val="80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100×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capas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1764792"/>
            <a:ext cx="1371600" cy="274320"/>
          </a:xfrm>
          <a:prstGeom prst="rect">
            <a:avLst/>
          </a:prstGeom>
          <a:solidFill>
            <a:srgbClr val="2563EB">
              <a:alpha val="80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764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capas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2359152"/>
            <a:ext cx="329184" cy="274320"/>
          </a:xfrm>
          <a:prstGeom prst="rect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2304" y="2359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capas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0" y="2953512"/>
            <a:ext cx="91440" cy="274320"/>
          </a:xfrm>
          <a:prstGeom prst="rect">
            <a:avLst/>
          </a:prstGeom>
          <a:solidFill>
            <a:srgbClr val="B45309">
              <a:alpha val="80000"/>
            </a:srgbClr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2953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capas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3547872"/>
            <a:ext cx="91440" cy="274320"/>
          </a:xfrm>
          <a:prstGeom prst="rect">
            <a:avLst/>
          </a:prstGeom>
          <a:solidFill>
            <a:srgbClr val="DC2626">
              <a:alpha val="80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3547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0.0001×</a:t>
            </a:r>
            <a:endParaRPr lang="en-US" sz="10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sigmoid'(z) ≤ 0.25  |  10 capas → gradiente 0.000001x original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Node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200400" cy="2286000"/>
          </a:xfrm>
          <a:prstGeom prst="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2834640" cy="411480"/>
          </a:xfrm>
          <a:prstGeom prst="rect">
            <a:avLst/>
          </a:prstGeom>
          <a:solidFill>
            <a:srgbClr val="2563EB">
              <a:alpha val="1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5.0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463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numérico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2834640" cy="411480"/>
          </a:xfrm>
          <a:prstGeom prst="rect">
            <a:avLst/>
          </a:prstGeom>
          <a:solidFill>
            <a:srgbClr val="7C3AED">
              <a:alpha val="1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 = 0.0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2011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acumulado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560320"/>
            <a:ext cx="2834640" cy="411480"/>
          </a:xfrm>
          <a:prstGeom prst="rect">
            <a:avLst/>
          </a:prstGeom>
          <a:solidFill>
            <a:srgbClr val="059669">
              <a:alpha val="1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_backward()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560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 el error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1520" y="3566160"/>
            <a:ext cx="1097280" cy="256032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1520" y="3566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Pausa y piensa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965960" y="356616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número = una ficha de dominó con valor, error acumulado y cómo repartirlo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89120" y="1005840"/>
            <a:ext cx="4389120" cy="22860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26280" y="1078992"/>
            <a:ext cx="41148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Value: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data, children=(), op=''):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self.data =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 = 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self._backward = lambda: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self._children = set(children)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self._op = op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y Mul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1463040" cy="457200"/>
          </a:xfrm>
          <a:prstGeom prst="rect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1463040"/>
            <a:ext cx="1463040" cy="457200"/>
          </a:xfrm>
          <a:prstGeom prst="rect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 = 1  db =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005840"/>
            <a:ext cx="3657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MULTIPLICACIÓN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20640" y="1463040"/>
            <a:ext cx="1463040" cy="45720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0" y="1463040"/>
            <a:ext cx="1463040" cy="45720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 = b  db = a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31520" y="2926080"/>
            <a:ext cx="1097280" cy="256032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" y="2926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Pausa y piensa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965960" y="292608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+= es crítico: un Value usado varias veces acumula gradientes de todos los caminos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1520" y="3474720"/>
            <a:ext cx="3657600" cy="109728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68680" y="3547872"/>
            <a:ext cx="3383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SUMA: d(a+b)/da = 1  d(a+b)/db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_backward():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self.grad += out.grad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other.grad += out.grad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937760" y="3474720"/>
            <a:ext cx="3657600" cy="109728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074920" y="3547872"/>
            <a:ext cx="3383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MULT: d(a*b)/da = b  d(a*b)/db =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_backward():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self.grad += other.data * out.grad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other.grad += self.data * out.grad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Sigmoide y Función de Pérdida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σ(x) = 1 / (1 + e⁻ˣ)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265176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60604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246888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219456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2560320" y="182880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50876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32588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123444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023360" y="1188720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σ(x)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828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9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4320"/>
            <a:ext cx="365760" cy="4572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31520" y="3383280"/>
            <a:ext cx="1097280" cy="256032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" y="3383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Pausa y piensa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965960" y="338328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(predicho - target)²  |  Como un termómetro: ¿qué tan lejos de la temperatura ideal?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303520" y="1005840"/>
            <a:ext cx="3474720" cy="256032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40680" y="1078992"/>
            <a:ext cx="32004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sigmoid(self):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1/(1 + math.exp(-x))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_backward():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self.grad += s*(1-s) * out.grad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Value(s, (self,), 'sigmoid')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mse_loss(pred, target):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diff = pred + Value(-target)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diff * diff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Backward Pass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0" y="11887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10058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0" y="16459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463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0" y="11887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0058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16459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1463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25603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377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25603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2377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97280" y="1645920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1463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procesamiento inverso: 1 → 7</a:t>
            </a:r>
            <a:endParaRPr lang="en-US" sz="1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31520" y="3566160"/>
            <a:ext cx="1097280" cy="256032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31520" y="3566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Pausa y piensa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965960" y="356616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Repartiendo culpas: el jefe (Loss) dice "la culpa es mía = 1" y cada empleado reparte su parte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1520" y="3840480"/>
            <a:ext cx="8046720" cy="109728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68680" y="3913632"/>
            <a:ext cx="7772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backward(self):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topo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= set()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build_topo(v):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 not in visited: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visited.add(v)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child in v._children: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build_topo(child)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topo.append(v)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build_topo(self)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self.grad = 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 in reversed(topo):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v._backward()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24688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+ bias + sigmoide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w₁, w₂, ...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b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σ(w·x + b)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828800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1005840"/>
            <a:ext cx="24688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Neuronas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n_inputs → n_outputs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Neuronas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828800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1005840"/>
            <a:ext cx="24688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Layers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1691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= [2, 4, 1]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parameters(), zero_grad()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31520" y="3108960"/>
            <a:ext cx="8046720" cy="13716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68680" y="3182112"/>
            <a:ext cx="7772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= Network([2, 4, 1])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net.zero_grad()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total_loss.backward()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 in net.parameters():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p.data -= lr * p.grad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XOR: Ejemplo Práctico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200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188720"/>
            <a:ext cx="0" cy="1920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148840"/>
            <a:ext cx="2286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69748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105156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80360" y="269748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80360" y="105156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834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0058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834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89120" y="1005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1005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1005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[0,0]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1371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1371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[0,1]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[1,0]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2331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[1,1]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731520" y="4389120"/>
            <a:ext cx="1097280" cy="256032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31520" y="4389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Pausa y piensa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965960" y="438912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1 neurona no puede separar XOR? ¿Qué cambia con una capa oculta?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31520" y="3291840"/>
            <a:ext cx="804672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868680" y="3364992"/>
            <a:ext cx="77724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= Network([2, 4, 1])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range(1000):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total_loss = Value(0.0)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inputs, target in xor_data: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[Value(i) for i in inputs]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loss = mse_loss(net(x), target)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total_loss += loss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net.zero_grad()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total_loss.backward()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 in net.parameters():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p.data -= lr * p.grad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Clasificar Círculos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2286000" cy="2286000"/>
          </a:xfrm>
          <a:prstGeom prst="ellipse">
            <a:avLst/>
          </a:prstGeom>
          <a:solidFill>
            <a:srgbClr val="2563EB">
              <a:alpha val="8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+ y² &lt;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0" y="173736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146304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2286000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09728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173736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92608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1097280"/>
            <a:ext cx="1828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3891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inicial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097280"/>
            <a:ext cx="1828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&gt;95%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5836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final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B7280"/>
                </a:solidFill>
              </a:rPr>
              <a:t>→</a:t>
            </a:r>
            <a:endParaRPr lang="en-US" sz="2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descubre el límite circular por sí sola, sin instrucciones explícitas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1520" y="4023360"/>
            <a:ext cx="8046720" cy="10058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68680" y="4096512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circle_net = Network([2, 8, 1])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range(2000):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random.shuffle(data)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inputs, target in 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[Value(i) for i in inputs]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 = circle_net(x)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loss = mse_loss(pred, target)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circle_net.zero_grad()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loss.backward()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p in circle_net.parameters():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p.data -= lr * p.grad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Código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1792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017520" y="1554480"/>
            <a:ext cx="3108960" cy="13716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92024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total_loss.backward()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1920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5146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p.data -= lr * p.grad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51460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optimizer.step()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2514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net.zero_grad()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108960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optimizer.zero_grad()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3108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↔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algoritmo. Escala industrial. GPUs. Terabytes de datos.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Inferencia vs Entrenamiento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1645920"/>
          </a:xfrm>
          <a:prstGeom prst="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45920" y="11887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Entrenamiento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+ Backward + Update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cambian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3657600" cy="1645920"/>
          </a:xfrm>
          <a:prstGeom prst="rect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0" y="118872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Inferencia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únicamente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cambios en pesos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017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= entrenamiento. Presentar examen = inferencia.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ChatGPT/Claude usan inferencia: tu prompt fluye forward, ningún peso cambia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backpropagation importa: moldeó cada peso de esa red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Términos Clave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00584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00584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culpa (gradientes) a cada peso vía chain rule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74720" y="100584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100584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3611880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Grafo Computacional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1188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operaciones: nodos = cálculos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100584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100584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1078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 de la Cadena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5508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derivadas a lo largo de la cadena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" y="224028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224028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2313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2606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cambiaría el error si ajustas un peso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474720" y="224028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474720" y="224028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3611880" y="2313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Vanishing Gradient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611880" y="2606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se encoge exponencialmente con sigmoide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17920" y="224028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224028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3"/>
          <p:cNvSpPr/>
          <p:nvPr/>
        </p:nvSpPr>
        <p:spPr>
          <a:xfrm>
            <a:off x="6355080" y="2313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Pass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355080" y="2606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salida, guardar valores intermedios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1520" y="347472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31520" y="347472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7"/>
          <p:cNvSpPr/>
          <p:nvPr/>
        </p:nvSpPr>
        <p:spPr>
          <a:xfrm>
            <a:off x="86868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Backward Pass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68680" y="3840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el grafo al revés repartiendo gradientes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474720" y="347472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474720" y="347472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1"/>
          <p:cNvSpPr/>
          <p:nvPr/>
        </p:nvSpPr>
        <p:spPr>
          <a:xfrm>
            <a:off x="361188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Rate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611880" y="3840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del ajuste: lr pequeño = lento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217920" y="3474720"/>
            <a:ext cx="23774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217920" y="347472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5"/>
          <p:cNvSpPr/>
          <p:nvPr/>
        </p:nvSpPr>
        <p:spPr>
          <a:xfrm>
            <a:off x="635508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Topological Sort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355080" y="3840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Orden: hijos procesados antes que padres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aprendimos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143000"/>
            <a:ext cx="228600" cy="2286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1097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= 1 backward pass calcula TODOS los gradientes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14400" y="1600200"/>
            <a:ext cx="228600" cy="2286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1554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la cadena: multiplicar derivadas hacia atrás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2057400"/>
            <a:ext cx="228600" cy="2286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almacena data, grad y cómo repartir el error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2514600"/>
            <a:ext cx="228600" cy="2286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reparte igual, Multiplicación reparte según el otro valor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2971800"/>
            <a:ext cx="228600" cy="2286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2926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Sigmoide profundo = gradientes que desaparecen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3429000"/>
            <a:ext cx="228600" cy="2286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1280160" y="3383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Construiste el mismo algoritmo que usa PyTorch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Lesson 04 — ReLU y variantes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Backpropagation desde Cero</dc:title>
  <dc:subject>PptxGenJS Presentation</dc:subject>
  <dc:creator>Diplomado Redes Neuronales</dc:creator>
  <cp:lastModifiedBy>Diplomado Redes Neuronales</cp:lastModifiedBy>
  <cp:revision>1</cp:revision>
  <dcterms:created xsi:type="dcterms:W3CDTF">2026-06-13T01:32:24Z</dcterms:created>
  <dcterms:modified xsi:type="dcterms:W3CDTF">2026-06-13T01:32:24Z</dcterms:modified>
</cp:coreProperties>
</file>