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69" r:id="rId6"/>
    <p:sldId id="271" r:id="rId7"/>
    <p:sldId id="273" r:id="rId8"/>
    <p:sldId id="274" r:id="rId9"/>
    <p:sldId id="275" r:id="rId10"/>
    <p:sldId id="276" r:id="rId11"/>
    <p:sldId id="270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61"/>
    <p:restoredTop sz="92109"/>
  </p:normalViewPr>
  <p:slideViewPr>
    <p:cSldViewPr snapToGrid="0">
      <p:cViewPr varScale="1">
        <p:scale>
          <a:sx n="92" d="100"/>
          <a:sy n="92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4" d="100"/>
          <a:sy n="114" d="100"/>
        </p:scale>
        <p:origin x="340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952F1-6B9D-0545-831C-6683B63D35DA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94619-98BE-AA4E-81AF-2CB3409BB9F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676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dirty="0"/>
              <a:t>El proceso de </a:t>
            </a:r>
            <a:r>
              <a:rPr lang="es-ES_tradnl" b="1" dirty="0">
                <a:solidFill>
                  <a:srgbClr val="FF0000"/>
                </a:solidFill>
              </a:rPr>
              <a:t>ajuste de pesos</a:t>
            </a:r>
            <a:r>
              <a:rPr lang="es-ES_tradnl" dirty="0"/>
              <a:t>, es lo que se considera </a:t>
            </a:r>
            <a:r>
              <a:rPr lang="es-ES_tradnl" b="1" dirty="0"/>
              <a:t>el aprendizaje </a:t>
            </a:r>
            <a:r>
              <a:rPr lang="es-ES_tradnl" dirty="0"/>
              <a:t>en una red neuronal.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8777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s-ES_tradnl" dirty="0"/>
              <a:t>Explicar la diferencia entre la Neurona M-P y el Perceptrón, empezando por la integración de ponderaciones a las entradas (PESOS).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dirty="0"/>
              <a:t>Usar el ejemplo de x1=1, x2=0 y x3=0, y un umbral = 2.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dirty="0"/>
              <a:t>Explicar que la función de agregación Z se convierte en una suma parametrizada (los pesos son los parámetros).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dirty="0"/>
              <a:t>Indicar que los pesos se deben de definir de manera automatizada y aleatoriamente (proceso de aprendizaje).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dirty="0"/>
              <a:t>Indicar que esto dependerá del análisis que se haga de casos anteriores de idas al cine (experiencia pasada), donde se tenían diferentes respuestas a cada una de las preguntas, así como diferentes salidas en cada caso (a este histórico de salidas, se le conoce como data sets).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dirty="0"/>
              <a:t>Explicar que el umbral o </a:t>
            </a:r>
            <a:r>
              <a:rPr lang="es-ES_tradnl" dirty="0" err="1"/>
              <a:t>threshold</a:t>
            </a:r>
            <a:r>
              <a:rPr lang="es-ES_tradnl" dirty="0"/>
              <a:t> se debe aprender a partir de un algoritmo que usa la experiencia pasada. Este algoritmo hace que se incorpore una nueva característica que siempre va a valer 1 (x0=1) y cuyo peso </a:t>
            </a:r>
          </a:p>
          <a:p>
            <a:pPr marL="228600" indent="-228600"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200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479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932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126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6122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7697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5068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9931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11527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05B24-AA75-6C95-9D84-5FF017F9D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8975AA-5920-8962-CB24-156B817C3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EB6601-71D2-5C6A-1C3A-DD61C930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F846F-7E60-28C7-1958-3B99ED0C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7CB412-C9EC-9ADD-48E4-1489469C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718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EADF3-4FB6-09B8-0275-B75C772D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35897-47C0-812B-5B21-DDAFE9F5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390A5-4942-69D7-267C-F082C157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AF0100-86F7-9E6D-AAF7-A2969B7F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9F613-725B-BCD1-EE6F-EB262A95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814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B58FA-3FB6-B9F6-CE63-4B786D0D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A2137-FF9F-9FE4-2B34-3D8FEB573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798D9-C266-46C2-EB26-AFB0C797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5E72B1-3C62-BAEB-286D-D59D9DC1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751CCF-8A32-FA76-30FE-1DBD8D7F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581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DD7D9-9A15-6162-B353-11B56AB4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FBF15B-EA6B-4834-5681-01E682BCC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41F1E7-B0D4-AE01-9274-27A427289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B82BAD-F043-4A1A-2A20-392867FB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1EFF4-FA29-BF21-CEE3-339E9FDA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EBC5F2-3A9E-C01D-691F-7E0BA67C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3858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B0009-5731-FF43-1FC6-818D3CC7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EFD306-B97A-0B58-49D7-FCBBBDDBD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C24C60-6938-89F2-8478-E7A4DC959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FF7ED1-56F5-3C5B-70FF-A85B62781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242946-9A53-4CF9-148E-601097070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2D687C-1BE3-08DE-7C6C-D408C8F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905258-562C-A961-FFEC-FD4BFF7A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6FD907-C3BD-7F50-4A88-2E3674C3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094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9271-1E97-7A4D-BEEA-A8E4D0E3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FEF17F-BB8F-B842-D937-C96F070F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EA1F25-361F-EE0A-816E-AE9E608D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C69AAD-70CB-5BC5-1CA1-FF99C28C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8289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321279-AAA5-C916-E1D5-06895E61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F0E49A-89C6-7476-D608-3267165D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9289A2-67D6-01E2-6360-AED215B6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40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A5D0E-FF22-EA2C-07F4-C0CBF54D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E17DE4-2D84-59C6-E543-23489559A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91325E-988E-77B4-DD00-CC9D7A2E7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F466BF-7E3A-45AC-C09D-7175C7BC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33D0B0-51AA-E464-555E-C451C909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3B9367-A166-6548-50C6-44D49784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504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251E0-4184-C25D-F479-3358AC33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70A429-63AD-5BF2-27D9-EE41C1566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EC4DB9-DE04-505D-E718-6BACEB0EB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B311CA-9ABF-4D8F-C396-8AF15ED5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9E489-1275-5DA3-4296-5EF1C7F5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EB9F5B-8A05-5B47-7666-52AF569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290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BD265-1AA5-6C34-B39B-8A98ECA3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38AF84-4E55-4512-E6A6-33CAD3793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401361-242E-9A35-EC38-E488E2B1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4631B-140E-5998-23E0-BDD9C360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5BDD65-2769-240B-FA02-F1190E53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345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286223-10A3-07BD-8C0E-C144AA294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F6FDD9-FA6F-7249-17AF-794517F2B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A7A967-9FFE-CB55-7372-2FE78877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926F35-727E-2689-2F5C-52FE6D75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C81EC5-A7E2-28B7-A4CE-45A2223D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575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15198-A8AA-912B-94F7-BA676709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C394E-69FB-B8E5-8471-EB87B4AEE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984053-72E9-0869-C5AD-882E709D0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79E6F-CCF1-CD4D-8DBB-EED7661607A7}" type="datetimeFigureOut">
              <a:rPr lang="es-ES_tradnl" smtClean="0"/>
              <a:t>24/6/24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BFBAD-89AB-D9A1-92EB-E36B8032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9CBAFB-1F6F-5102-3CAD-8AB386AEF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8680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2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9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0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944FD3-AA52-64AD-6CB6-E0FDA1E34C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58" t="3041" r="12937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684516-ED41-4131-F9C2-14DC29BA9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781387"/>
            <a:ext cx="6268809" cy="2407928"/>
          </a:xfrm>
        </p:spPr>
        <p:txBody>
          <a:bodyPr anchor="b">
            <a:normAutofit/>
          </a:bodyPr>
          <a:lstStyle/>
          <a:p>
            <a:pPr algn="l"/>
            <a:r>
              <a:rPr lang="es-ES_tradnl" sz="4800" dirty="0">
                <a:solidFill>
                  <a:schemeClr val="bg1"/>
                </a:solidFill>
              </a:rPr>
              <a:t>Redes Neuronales Artificiales</a:t>
            </a:r>
            <a:br>
              <a:rPr lang="es-ES_tradnl" sz="4800" dirty="0">
                <a:solidFill>
                  <a:schemeClr val="bg1"/>
                </a:solidFill>
              </a:rPr>
            </a:br>
            <a:r>
              <a:rPr lang="es-ES_tradnl" sz="4800" dirty="0">
                <a:solidFill>
                  <a:schemeClr val="bg1"/>
                </a:solidFill>
              </a:rPr>
              <a:t>Perceptrón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7BA836D-9818-A528-4CDD-85701134F22F}"/>
              </a:ext>
            </a:extLst>
          </p:cNvPr>
          <p:cNvSpPr txBox="1">
            <a:spLocks/>
          </p:cNvSpPr>
          <p:nvPr/>
        </p:nvSpPr>
        <p:spPr>
          <a:xfrm>
            <a:off x="1185117" y="6236829"/>
            <a:ext cx="5490334" cy="51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000" dirty="0">
                <a:solidFill>
                  <a:schemeClr val="bg1"/>
                </a:solidFill>
              </a:rPr>
              <a:t>Universidad Autónoma del Estado de México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820874-2CAF-57CE-2421-DC5AB3188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414" y="3671107"/>
            <a:ext cx="27051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0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51C318-4FA6-2825-44A7-F2C94613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/>
          <a:stretch/>
        </p:blipFill>
        <p:spPr>
          <a:xfrm>
            <a:off x="2519309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84860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Conceptos básicos del 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2" y="1205949"/>
            <a:ext cx="7277517" cy="4744277"/>
          </a:xfrm>
        </p:spPr>
        <p:txBody>
          <a:bodyPr>
            <a:normAutofit fontScale="92500"/>
          </a:bodyPr>
          <a:lstStyle/>
          <a:p>
            <a:pPr marL="342900" indent="-342900">
              <a:buFont typeface="Symbol" pitchFamily="2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Propuesto por Frank Rosenblatt en 1958 (casi 15 años después de la neurona M-P).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En 1969 fue refinado y analizado en detalle por Marvin Minsky y </a:t>
            </a:r>
            <a:r>
              <a:rPr lang="es-ES" sz="2400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Seymur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Papert </a:t>
            </a:r>
            <a:r>
              <a:rPr lang="es-ES" sz="2400" i="1" baseline="-250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[1]</a:t>
            </a:r>
            <a:endParaRPr lang="es-ES" sz="2400" baseline="-25000" dirty="0"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/>
              <a:t>Mejora el planteamiento de la neurona de McCulloch y Pitts, añadiendo el concepto de </a:t>
            </a:r>
            <a:r>
              <a:rPr lang="es-ES_tradnl" sz="2400" i="1" dirty="0"/>
              <a:t>“peso numérico”, </a:t>
            </a:r>
            <a:r>
              <a:rPr lang="es-ES_tradnl" sz="2400" dirty="0"/>
              <a:t>a las entradas y planteando un mecanismo para ajustarlos.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/>
              <a:t>No recibe únicamente valores de entrada binarios, permite valores de entrada reales.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/>
              <a:t>Consta de varias neuronas artificiales conocidas como </a:t>
            </a:r>
            <a:r>
              <a:rPr lang="es-ES_tradnl" sz="2400" b="1" i="1" dirty="0" err="1"/>
              <a:t>Threhold</a:t>
            </a:r>
            <a:r>
              <a:rPr lang="es-ES_tradnl" sz="2400" b="1" i="1" dirty="0"/>
              <a:t> </a:t>
            </a:r>
            <a:r>
              <a:rPr lang="es-ES_tradnl" sz="2400" b="1" i="1" dirty="0" err="1"/>
              <a:t>Logic</a:t>
            </a:r>
            <a:r>
              <a:rPr lang="es-ES_tradnl" sz="2400" b="1" i="1" dirty="0"/>
              <a:t> </a:t>
            </a:r>
            <a:r>
              <a:rPr lang="es-ES_tradnl" sz="2400" b="1" i="1" dirty="0" err="1"/>
              <a:t>Unit</a:t>
            </a:r>
            <a:r>
              <a:rPr lang="es-ES_tradnl" sz="2400" b="1" i="1" dirty="0"/>
              <a:t> (TLU).</a:t>
            </a:r>
            <a:endParaRPr lang="es-ES_tradnl" sz="2400" dirty="0"/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/>
              <a:t>La </a:t>
            </a:r>
            <a:r>
              <a:rPr lang="es-ES_tradnl" sz="2400" b="1" i="1" dirty="0"/>
              <a:t>TLU </a:t>
            </a:r>
            <a:r>
              <a:rPr lang="es-ES_tradnl" sz="2400" dirty="0"/>
              <a:t>computa una </a:t>
            </a:r>
            <a:r>
              <a:rPr lang="es-ES_tradnl" sz="2400" b="1" i="1" dirty="0"/>
              <a:t>suma parametrizada </a:t>
            </a:r>
            <a:r>
              <a:rPr lang="es-ES_tradnl" sz="2400" dirty="0"/>
              <a:t>de las entradas.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B8C866-5B73-EB91-CE40-CC8421E759B5}"/>
              </a:ext>
            </a:extLst>
          </p:cNvPr>
          <p:cNvSpPr txBox="1"/>
          <p:nvPr/>
        </p:nvSpPr>
        <p:spPr>
          <a:xfrm>
            <a:off x="304800" y="6255026"/>
            <a:ext cx="1065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i="1" dirty="0">
                <a:solidFill>
                  <a:schemeClr val="accent1"/>
                </a:solidFill>
              </a:rPr>
              <a:t>[1]. Marvin, M., &amp; Seymour, A. P. (1969). </a:t>
            </a:r>
            <a:r>
              <a:rPr lang="es-ES_tradnl" i="1" dirty="0" err="1">
                <a:solidFill>
                  <a:schemeClr val="accent1"/>
                </a:solidFill>
              </a:rPr>
              <a:t>Perceptrons</a:t>
            </a:r>
            <a:r>
              <a:rPr lang="es-ES_tradnl" i="1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4342" name="Picture 6" descr="El Perceptrón de Rosenblatt • Un artículo de La Máquina Oráculo">
            <a:extLst>
              <a:ext uri="{FF2B5EF4-FFF2-40B4-BE49-F238E27FC236}">
                <a16:creationId xmlns:a16="http://schemas.microsoft.com/office/drawing/2014/main" id="{E2BFA300-7212-973F-AFD1-F398B548E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330" y="1112108"/>
            <a:ext cx="3945835" cy="39458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58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Neurona M-P VS. 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776" y="1011471"/>
            <a:ext cx="3935417" cy="15401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2400" b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Ejemplo: ¿Voy al cine hoy?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¿Es fin de semana?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¿No tengo tarea que realizar?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¿Estrenan película hoy?</a:t>
            </a:r>
            <a:endParaRPr lang="es-ES_tradnl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716746B-2D52-AD32-7C1D-B8B57BC2E0E1}"/>
                  </a:ext>
                </a:extLst>
              </p:cNvPr>
              <p:cNvSpPr txBox="1"/>
              <p:nvPr/>
            </p:nvSpPr>
            <p:spPr>
              <a:xfrm>
                <a:off x="5956192" y="5004470"/>
                <a:ext cx="23688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716746B-2D52-AD32-7C1D-B8B57BC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92" y="5004470"/>
                <a:ext cx="2368854" cy="276999"/>
              </a:xfrm>
              <a:prstGeom prst="rect">
                <a:avLst/>
              </a:prstGeom>
              <a:blipFill>
                <a:blip r:embed="rId3"/>
                <a:stretch>
                  <a:fillRect l="-532" t="-9091" r="-3191" b="-409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293183D-7D74-EB72-771E-5AFE597BF221}"/>
                  </a:ext>
                </a:extLst>
              </p:cNvPr>
              <p:cNvSpPr txBox="1"/>
              <p:nvPr/>
            </p:nvSpPr>
            <p:spPr>
              <a:xfrm>
                <a:off x="5880389" y="5365253"/>
                <a:ext cx="6110327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s-E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293183D-7D74-EB72-771E-5AFE597BF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389" y="5365253"/>
                <a:ext cx="6110327" cy="756233"/>
              </a:xfrm>
              <a:prstGeom prst="rect">
                <a:avLst/>
              </a:prstGeom>
              <a:blipFill>
                <a:blip r:embed="rId4"/>
                <a:stretch>
                  <a:fillRect t="-118333" b="-18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uadroTexto 47">
            <a:extLst>
              <a:ext uri="{FF2B5EF4-FFF2-40B4-BE49-F238E27FC236}">
                <a16:creationId xmlns:a16="http://schemas.microsoft.com/office/drawing/2014/main" id="{6236B1D3-967B-C256-20E0-E178AB8C45C4}"/>
              </a:ext>
            </a:extLst>
          </p:cNvPr>
          <p:cNvSpPr txBox="1"/>
          <p:nvPr/>
        </p:nvSpPr>
        <p:spPr>
          <a:xfrm>
            <a:off x="6992611" y="6107160"/>
            <a:ext cx="254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Donde: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4F593F8-2A51-7F87-399C-CCAF9E67146E}"/>
                  </a:ext>
                </a:extLst>
              </p:cNvPr>
              <p:cNvSpPr txBox="1"/>
              <p:nvPr/>
            </p:nvSpPr>
            <p:spPr>
              <a:xfrm>
                <a:off x="8296619" y="6114972"/>
                <a:ext cx="1494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𝑏𝑖𝑎𝑠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4F593F8-2A51-7F87-399C-CCAF9E671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619" y="6114972"/>
                <a:ext cx="1494512" cy="276999"/>
              </a:xfrm>
              <a:prstGeom prst="rect">
                <a:avLst/>
              </a:prstGeom>
              <a:blipFill>
                <a:blip r:embed="rId5"/>
                <a:stretch>
                  <a:fillRect l="-1695" t="-8696" r="-5932"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24BDC26-8357-EAB4-023A-B8AF651C2963}"/>
                  </a:ext>
                </a:extLst>
              </p:cNvPr>
              <p:cNvSpPr txBox="1"/>
              <p:nvPr/>
            </p:nvSpPr>
            <p:spPr>
              <a:xfrm>
                <a:off x="8997328" y="4759646"/>
                <a:ext cx="3105145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1,   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)&lt;0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24BDC26-8357-EAB4-023A-B8AF651C2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328" y="4759646"/>
                <a:ext cx="3105145" cy="617861"/>
              </a:xfrm>
              <a:prstGeom prst="rect">
                <a:avLst/>
              </a:prstGeom>
              <a:blipFill>
                <a:blip r:embed="rId6"/>
                <a:stretch>
                  <a:fillRect l="-408" t="-224000" r="-2449" b="-324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360" name="Grupo 14359">
            <a:extLst>
              <a:ext uri="{FF2B5EF4-FFF2-40B4-BE49-F238E27FC236}">
                <a16:creationId xmlns:a16="http://schemas.microsoft.com/office/drawing/2014/main" id="{A8A6DF70-F647-E077-C8EC-51EE47FF9EF7}"/>
              </a:ext>
            </a:extLst>
          </p:cNvPr>
          <p:cNvGrpSpPr/>
          <p:nvPr/>
        </p:nvGrpSpPr>
        <p:grpSpPr>
          <a:xfrm>
            <a:off x="7390262" y="2781027"/>
            <a:ext cx="3849313" cy="1695135"/>
            <a:chOff x="6037705" y="1619995"/>
            <a:chExt cx="3849313" cy="1695135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47FB7EC9-3F34-778A-023E-F6764527C6FF}"/>
                </a:ext>
              </a:extLst>
            </p:cNvPr>
            <p:cNvGrpSpPr/>
            <p:nvPr/>
          </p:nvGrpSpPr>
          <p:grpSpPr>
            <a:xfrm>
              <a:off x="7780434" y="2212193"/>
              <a:ext cx="1074656" cy="1102937"/>
              <a:chOff x="1978931" y="1322200"/>
              <a:chExt cx="1074656" cy="1102937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76554880-70D9-6B6A-2CC4-022EB2D1E791}"/>
                  </a:ext>
                </a:extLst>
              </p:cNvPr>
              <p:cNvSpPr/>
              <p:nvPr/>
            </p:nvSpPr>
            <p:spPr>
              <a:xfrm>
                <a:off x="1978931" y="1322200"/>
                <a:ext cx="1074656" cy="1102937"/>
              </a:xfrm>
              <a:prstGeom prst="ellipse">
                <a:avLst/>
              </a:prstGeom>
              <a:ln w="254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C7DFA92D-413F-ABC1-B93E-2DB7CB22E6E9}"/>
                  </a:ext>
                </a:extLst>
              </p:cNvPr>
              <p:cNvCxnSpPr>
                <a:cxnSpLocks/>
                <a:stCxn id="4" idx="0"/>
                <a:endCxn id="4" idx="4"/>
              </p:cNvCxnSpPr>
              <p:nvPr/>
            </p:nvCxnSpPr>
            <p:spPr>
              <a:xfrm>
                <a:off x="2516259" y="1322200"/>
                <a:ext cx="0" cy="110293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06AFF4A-8EF7-E98A-B253-F79C60AAA3DF}"/>
                    </a:ext>
                  </a:extLst>
                </p:cNvPr>
                <p:cNvSpPr txBox="1"/>
                <p:nvPr/>
              </p:nvSpPr>
              <p:spPr>
                <a:xfrm>
                  <a:off x="7899775" y="2615685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s-ES_tradn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06AFF4A-8EF7-E98A-B253-F79C60AAA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9775" y="2615685"/>
                  <a:ext cx="39662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1D94F4B-A103-58CE-E501-1BF3E265C3A7}"/>
                    </a:ext>
                  </a:extLst>
                </p:cNvPr>
                <p:cNvSpPr txBox="1"/>
                <p:nvPr/>
              </p:nvSpPr>
              <p:spPr>
                <a:xfrm>
                  <a:off x="8339126" y="2622893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s-ES_trad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1D94F4B-A103-58CE-E501-1BF3E265C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9126" y="2622893"/>
                  <a:ext cx="39662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E34B9D1-212F-2829-B5FD-6EF508664A09}"/>
                    </a:ext>
                  </a:extLst>
                </p:cNvPr>
                <p:cNvSpPr txBox="1"/>
                <p:nvPr/>
              </p:nvSpPr>
              <p:spPr>
                <a:xfrm>
                  <a:off x="6128224" y="2062172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E34B9D1-212F-2829-B5FD-6EF508664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224" y="2062172"/>
                  <a:ext cx="39662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4DE25C0-DB1B-F779-F3DE-BC5DD58A1E4C}"/>
                    </a:ext>
                  </a:extLst>
                </p:cNvPr>
                <p:cNvSpPr txBox="1"/>
                <p:nvPr/>
              </p:nvSpPr>
              <p:spPr>
                <a:xfrm>
                  <a:off x="6123121" y="2493078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4DE25C0-DB1B-F779-F3DE-BC5DD58A1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3121" y="2493078"/>
                  <a:ext cx="396624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5610437-8890-3F2C-F3F8-B08689F393A2}"/>
                    </a:ext>
                  </a:extLst>
                </p:cNvPr>
                <p:cNvSpPr txBox="1"/>
                <p:nvPr/>
              </p:nvSpPr>
              <p:spPr>
                <a:xfrm>
                  <a:off x="6131416" y="2996816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5610437-8890-3F2C-F3F8-B08689F39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1416" y="2996816"/>
                  <a:ext cx="39662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D23B87FB-7F3B-4D51-4E67-A848B394E29F}"/>
                </a:ext>
              </a:extLst>
            </p:cNvPr>
            <p:cNvCxnSpPr>
              <a:cxnSpLocks/>
            </p:cNvCxnSpPr>
            <p:nvPr/>
          </p:nvCxnSpPr>
          <p:spPr>
            <a:xfrm>
              <a:off x="7227083" y="2199961"/>
              <a:ext cx="613050" cy="36993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6663C394-5616-04D8-36C1-8E003AEAA723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7230214" y="2663405"/>
              <a:ext cx="550220" cy="10025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426BAB1F-EFF0-C641-3739-7289609DF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3531" y="3009234"/>
              <a:ext cx="606602" cy="13623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B48152F2-1743-691B-6350-516C7ABAB799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 flipV="1">
              <a:off x="8855090" y="2761393"/>
              <a:ext cx="641543" cy="226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8CB326A-DF2C-CF38-4126-E2F4FF639F9D}"/>
                    </a:ext>
                  </a:extLst>
                </p:cNvPr>
                <p:cNvSpPr txBox="1"/>
                <p:nvPr/>
              </p:nvSpPr>
              <p:spPr>
                <a:xfrm>
                  <a:off x="9490394" y="2622893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8CB326A-DF2C-CF38-4126-E2F4FF639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394" y="2622893"/>
                  <a:ext cx="396624" cy="276999"/>
                </a:xfrm>
                <a:prstGeom prst="rect">
                  <a:avLst/>
                </a:prstGeom>
                <a:blipFill>
                  <a:blip r:embed="rId13"/>
                  <a:stretch>
                    <a:fillRect t="-18182" b="-2727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E6312EF3-C31F-8306-0936-188FFE54F28B}"/>
                    </a:ext>
                  </a:extLst>
                </p:cNvPr>
                <p:cNvSpPr txBox="1"/>
                <p:nvPr/>
              </p:nvSpPr>
              <p:spPr>
                <a:xfrm>
                  <a:off x="6037705" y="1619995"/>
                  <a:ext cx="53958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E6312EF3-C31F-8306-0936-188FFE54F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7705" y="1619995"/>
                  <a:ext cx="539580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FE79EDD-2BF0-6136-BDB4-4A1AF5A45806}"/>
                    </a:ext>
                  </a:extLst>
                </p:cNvPr>
                <p:cNvSpPr txBox="1"/>
                <p:nvPr/>
              </p:nvSpPr>
              <p:spPr>
                <a:xfrm>
                  <a:off x="6905718" y="1633600"/>
                  <a:ext cx="322461" cy="276999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FE79EDD-2BF0-6136-BDB4-4A1AF5A45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5718" y="1633600"/>
                  <a:ext cx="32246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571" b="-8000"/>
                  </a:stretch>
                </a:blipFill>
                <a:ln w="2540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39" name="Conector recto 14338">
              <a:extLst>
                <a:ext uri="{FF2B5EF4-FFF2-40B4-BE49-F238E27FC236}">
                  <a16:creationId xmlns:a16="http://schemas.microsoft.com/office/drawing/2014/main" id="{6422D648-F75A-2134-07FF-300EC4E55B5F}"/>
                </a:ext>
              </a:extLst>
            </p:cNvPr>
            <p:cNvCxnSpPr>
              <a:cxnSpLocks/>
            </p:cNvCxnSpPr>
            <p:nvPr/>
          </p:nvCxnSpPr>
          <p:spPr>
            <a:xfrm>
              <a:off x="6499637" y="1786424"/>
              <a:ext cx="406081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5" name="CuadroTexto 14344">
                  <a:extLst>
                    <a:ext uri="{FF2B5EF4-FFF2-40B4-BE49-F238E27FC236}">
                      <a16:creationId xmlns:a16="http://schemas.microsoft.com/office/drawing/2014/main" id="{8B138BE5-D284-686C-BC65-F58A3D03FFB7}"/>
                    </a:ext>
                  </a:extLst>
                </p:cNvPr>
                <p:cNvSpPr txBox="1"/>
                <p:nvPr/>
              </p:nvSpPr>
              <p:spPr>
                <a:xfrm>
                  <a:off x="6918418" y="2040000"/>
                  <a:ext cx="317138" cy="276999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345" name="CuadroTexto 14344">
                  <a:extLst>
                    <a:ext uri="{FF2B5EF4-FFF2-40B4-BE49-F238E27FC236}">
                      <a16:creationId xmlns:a16="http://schemas.microsoft.com/office/drawing/2014/main" id="{8B138BE5-D284-686C-BC65-F58A3D03F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8418" y="2040000"/>
                  <a:ext cx="31713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7143" b="-4000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6" name="CuadroTexto 14345">
                  <a:extLst>
                    <a:ext uri="{FF2B5EF4-FFF2-40B4-BE49-F238E27FC236}">
                      <a16:creationId xmlns:a16="http://schemas.microsoft.com/office/drawing/2014/main" id="{713427FC-C019-CD11-07AB-667295CD2B72}"/>
                    </a:ext>
                  </a:extLst>
                </p:cNvPr>
                <p:cNvSpPr txBox="1"/>
                <p:nvPr/>
              </p:nvSpPr>
              <p:spPr>
                <a:xfrm>
                  <a:off x="6909952" y="2505668"/>
                  <a:ext cx="322461" cy="276999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346" name="CuadroTexto 14345">
                  <a:extLst>
                    <a:ext uri="{FF2B5EF4-FFF2-40B4-BE49-F238E27FC236}">
                      <a16:creationId xmlns:a16="http://schemas.microsoft.com/office/drawing/2014/main" id="{713427FC-C019-CD11-07AB-667295CD2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952" y="2505668"/>
                  <a:ext cx="32246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571" r="-3571" b="-8000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7" name="CuadroTexto 14346">
                  <a:extLst>
                    <a:ext uri="{FF2B5EF4-FFF2-40B4-BE49-F238E27FC236}">
                      <a16:creationId xmlns:a16="http://schemas.microsoft.com/office/drawing/2014/main" id="{CB42054F-E85A-E34D-97D5-4DCB5A5733FF}"/>
                    </a:ext>
                  </a:extLst>
                </p:cNvPr>
                <p:cNvSpPr txBox="1"/>
                <p:nvPr/>
              </p:nvSpPr>
              <p:spPr>
                <a:xfrm>
                  <a:off x="6909945" y="3013664"/>
                  <a:ext cx="322461" cy="276999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347" name="CuadroTexto 14346">
                  <a:extLst>
                    <a:ext uri="{FF2B5EF4-FFF2-40B4-BE49-F238E27FC236}">
                      <a16:creationId xmlns:a16="http://schemas.microsoft.com/office/drawing/2014/main" id="{CB42054F-E85A-E34D-97D5-4DCB5A573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945" y="3013664"/>
                  <a:ext cx="322461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571" r="-3571" b="-8000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52" name="Conector recto de flecha 14351">
              <a:extLst>
                <a:ext uri="{FF2B5EF4-FFF2-40B4-BE49-F238E27FC236}">
                  <a16:creationId xmlns:a16="http://schemas.microsoft.com/office/drawing/2014/main" id="{E1C869B3-9859-557D-FE91-A2B9A0D62AA5}"/>
                </a:ext>
              </a:extLst>
            </p:cNvPr>
            <p:cNvCxnSpPr>
              <a:stCxn id="62" idx="3"/>
              <a:endCxn id="4" idx="1"/>
            </p:cNvCxnSpPr>
            <p:nvPr/>
          </p:nvCxnSpPr>
          <p:spPr>
            <a:xfrm>
              <a:off x="7228179" y="1772100"/>
              <a:ext cx="709635" cy="6016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357" name="Conector recto 14356">
              <a:extLst>
                <a:ext uri="{FF2B5EF4-FFF2-40B4-BE49-F238E27FC236}">
                  <a16:creationId xmlns:a16="http://schemas.microsoft.com/office/drawing/2014/main" id="{65A50E9D-FEEE-4621-F48C-58C142B18B4E}"/>
                </a:ext>
              </a:extLst>
            </p:cNvPr>
            <p:cNvCxnSpPr>
              <a:cxnSpLocks/>
            </p:cNvCxnSpPr>
            <p:nvPr/>
          </p:nvCxnSpPr>
          <p:spPr>
            <a:xfrm>
              <a:off x="6499639" y="2209762"/>
              <a:ext cx="406081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358" name="Conector recto 14357">
              <a:extLst>
                <a:ext uri="{FF2B5EF4-FFF2-40B4-BE49-F238E27FC236}">
                  <a16:creationId xmlns:a16="http://schemas.microsoft.com/office/drawing/2014/main" id="{1E83FC06-6996-DBD9-FEF4-DF3DFE8D553C}"/>
                </a:ext>
              </a:extLst>
            </p:cNvPr>
            <p:cNvCxnSpPr>
              <a:cxnSpLocks/>
            </p:cNvCxnSpPr>
            <p:nvPr/>
          </p:nvCxnSpPr>
          <p:spPr>
            <a:xfrm>
              <a:off x="6499634" y="2683895"/>
              <a:ext cx="406081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359" name="Conector recto 14358">
              <a:extLst>
                <a:ext uri="{FF2B5EF4-FFF2-40B4-BE49-F238E27FC236}">
                  <a16:creationId xmlns:a16="http://schemas.microsoft.com/office/drawing/2014/main" id="{7404C989-0886-A6BB-F60B-DEDE2C5D5C15}"/>
                </a:ext>
              </a:extLst>
            </p:cNvPr>
            <p:cNvCxnSpPr>
              <a:cxnSpLocks/>
            </p:cNvCxnSpPr>
            <p:nvPr/>
          </p:nvCxnSpPr>
          <p:spPr>
            <a:xfrm>
              <a:off x="6499633" y="3174965"/>
              <a:ext cx="406081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8F710E-6275-0FDA-771D-0A9A4DE1DB7F}"/>
                  </a:ext>
                </a:extLst>
              </p:cNvPr>
              <p:cNvSpPr txBox="1"/>
              <p:nvPr/>
            </p:nvSpPr>
            <p:spPr>
              <a:xfrm>
                <a:off x="8296619" y="6391971"/>
                <a:ext cx="12079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𝑝𝑒𝑠𝑜𝑠</m:t>
                      </m:r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58F710E-6275-0FDA-771D-0A9A4DE1D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619" y="6391971"/>
                <a:ext cx="1207959" cy="276999"/>
              </a:xfrm>
              <a:prstGeom prst="rect">
                <a:avLst/>
              </a:prstGeom>
              <a:blipFill>
                <a:blip r:embed="rId19"/>
                <a:stretch>
                  <a:fillRect l="-2083" r="-4167" b="-2173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B22288AB-5AE2-5171-182E-2B2B57436637}"/>
              </a:ext>
            </a:extLst>
          </p:cNvPr>
          <p:cNvGrpSpPr/>
          <p:nvPr/>
        </p:nvGrpSpPr>
        <p:grpSpPr>
          <a:xfrm>
            <a:off x="363392" y="1158197"/>
            <a:ext cx="6312880" cy="4868977"/>
            <a:chOff x="363392" y="1158197"/>
            <a:chExt cx="6312880" cy="4868977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9E6D7CEB-8241-BFEF-4D16-8BA094E29000}"/>
                </a:ext>
              </a:extLst>
            </p:cNvPr>
            <p:cNvGrpSpPr/>
            <p:nvPr/>
          </p:nvGrpSpPr>
          <p:grpSpPr>
            <a:xfrm>
              <a:off x="363392" y="1158197"/>
              <a:ext cx="6312880" cy="4868977"/>
              <a:chOff x="363392" y="1158197"/>
              <a:chExt cx="6312880" cy="4868977"/>
            </a:xfrm>
          </p:grpSpPr>
          <p:pic>
            <p:nvPicPr>
              <p:cNvPr id="56" name="Imagen 55">
                <a:extLst>
                  <a:ext uri="{FF2B5EF4-FFF2-40B4-BE49-F238E27FC236}">
                    <a16:creationId xmlns:a16="http://schemas.microsoft.com/office/drawing/2014/main" id="{67D46A00-800B-64CE-08F8-A12EEEB424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392" y="1158197"/>
                <a:ext cx="6312880" cy="4868977"/>
              </a:xfrm>
              <a:prstGeom prst="rect">
                <a:avLst/>
              </a:prstGeom>
            </p:spPr>
          </p:pic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938DE-E50E-2547-4D9B-62F45E25A41B}"/>
                  </a:ext>
                </a:extLst>
              </p:cNvPr>
              <p:cNvSpPr/>
              <p:nvPr/>
            </p:nvSpPr>
            <p:spPr>
              <a:xfrm>
                <a:off x="3020291" y="4306497"/>
                <a:ext cx="484909" cy="4531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3DF1FBFE-48E1-47F5-34E8-D82DECA3588D}"/>
                    </a:ext>
                  </a:extLst>
                </p:cNvPr>
                <p:cNvSpPr txBox="1"/>
                <p:nvPr/>
              </p:nvSpPr>
              <p:spPr>
                <a:xfrm>
                  <a:off x="489277" y="3736065"/>
                  <a:ext cx="195438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ES_tradn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3DF1FBFE-48E1-47F5-34E8-D82DECA35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277" y="3736065"/>
                  <a:ext cx="1954381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1290" t="-4545" r="-3871" b="-36364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38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 err="1"/>
              <a:t>Threshold</a:t>
            </a:r>
            <a:r>
              <a:rPr lang="es-ES_tradnl" sz="4000" dirty="0"/>
              <a:t> </a:t>
            </a:r>
            <a:r>
              <a:rPr lang="es-ES_tradnl" sz="4000" dirty="0" err="1"/>
              <a:t>Logic</a:t>
            </a:r>
            <a:r>
              <a:rPr lang="es-ES_tradnl" sz="4000" dirty="0"/>
              <a:t> </a:t>
            </a:r>
            <a:r>
              <a:rPr lang="es-ES_tradnl" sz="4000" dirty="0" err="1"/>
              <a:t>Unit</a:t>
            </a:r>
            <a:r>
              <a:rPr lang="es-ES_tradnl" sz="4000" dirty="0"/>
              <a:t> (TLU)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60" y="1112108"/>
            <a:ext cx="9471495" cy="1540153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La TLU computa una </a:t>
            </a:r>
            <a:r>
              <a:rPr lang="es-ES" sz="2400" b="1" i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suma parametrizada 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de las entradas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Después, aplica una </a:t>
            </a:r>
            <a:r>
              <a:rPr lang="es-ES" sz="2400" b="1" i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función de activación 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sobre la suma calculada anteriormente</a:t>
            </a:r>
            <a:endParaRPr lang="es-ES_tradnl" sz="2400"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FD314F67-0A98-252A-0CEC-70E58E14D08C}"/>
              </a:ext>
            </a:extLst>
          </p:cNvPr>
          <p:cNvGrpSpPr/>
          <p:nvPr/>
        </p:nvGrpSpPr>
        <p:grpSpPr>
          <a:xfrm>
            <a:off x="955497" y="3152001"/>
            <a:ext cx="8972113" cy="1650057"/>
            <a:chOff x="955497" y="3152001"/>
            <a:chExt cx="8972113" cy="1650057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5C51107D-4F1F-A811-6139-E679D7E6FC46}"/>
                </a:ext>
              </a:extLst>
            </p:cNvPr>
            <p:cNvGrpSpPr/>
            <p:nvPr/>
          </p:nvGrpSpPr>
          <p:grpSpPr>
            <a:xfrm>
              <a:off x="955497" y="3152001"/>
              <a:ext cx="1492734" cy="612368"/>
              <a:chOff x="955497" y="3152001"/>
              <a:chExt cx="1492734" cy="6123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C13C15E6-758C-3F14-A9E5-DABE282CAFDD}"/>
                      </a:ext>
                    </a:extLst>
                  </p:cNvPr>
                  <p:cNvSpPr txBox="1"/>
                  <p:nvPr/>
                </p:nvSpPr>
                <p:spPr>
                  <a:xfrm>
                    <a:off x="955497" y="3290500"/>
                    <a:ext cx="39662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ES_tradnl" dirty="0"/>
                  </a:p>
                </p:txBody>
              </p:sp>
            </mc:Choice>
            <mc:Fallback xmlns="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C13C15E6-758C-3F14-A9E5-DABE282CAF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497" y="3290500"/>
                    <a:ext cx="39662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s-ES_trad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9D3BFFF7-8B9C-CA22-539D-5F4B68C30D87}"/>
                  </a:ext>
                </a:extLst>
              </p:cNvPr>
              <p:cNvSpPr/>
              <p:nvPr/>
            </p:nvSpPr>
            <p:spPr>
              <a:xfrm>
                <a:off x="1848464" y="3152001"/>
                <a:ext cx="599767" cy="61236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DD71FA8F-1A17-F0C1-3627-C0DAA7EA06F7}"/>
                      </a:ext>
                    </a:extLst>
                  </p:cNvPr>
                  <p:cNvSpPr txBox="1"/>
                  <p:nvPr/>
                </p:nvSpPr>
                <p:spPr>
                  <a:xfrm>
                    <a:off x="1959868" y="3309904"/>
                    <a:ext cx="39662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ES_tradnl" dirty="0"/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DD71FA8F-1A17-F0C1-3627-C0DAA7EA06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9868" y="3309904"/>
                    <a:ext cx="39662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s-ES_trad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57C0556B-8880-70A3-9CCE-AD7DA6901359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 flipV="1">
                <a:off x="1350839" y="3458185"/>
                <a:ext cx="497625" cy="978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845FBA4B-5C11-BFCC-5516-3D89A6007CDA}"/>
                </a:ext>
              </a:extLst>
            </p:cNvPr>
            <p:cNvSpPr/>
            <p:nvPr/>
          </p:nvSpPr>
          <p:spPr>
            <a:xfrm>
              <a:off x="3839536" y="3425333"/>
              <a:ext cx="4503174" cy="13112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17CB88B9-9FA4-A074-A739-01FB35D5704F}"/>
                </a:ext>
              </a:extLst>
            </p:cNvPr>
            <p:cNvCxnSpPr>
              <a:stCxn id="28" idx="0"/>
              <a:endCxn id="28" idx="2"/>
            </p:cNvCxnSpPr>
            <p:nvPr/>
          </p:nvCxnSpPr>
          <p:spPr>
            <a:xfrm>
              <a:off x="6091123" y="3425333"/>
              <a:ext cx="0" cy="1311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3E1D9F37-9988-85BD-9F45-852F396CAC81}"/>
                </a:ext>
              </a:extLst>
            </p:cNvPr>
            <p:cNvCxnSpPr>
              <a:stCxn id="17" idx="6"/>
            </p:cNvCxnSpPr>
            <p:nvPr/>
          </p:nvCxnSpPr>
          <p:spPr>
            <a:xfrm>
              <a:off x="2448231" y="3458185"/>
              <a:ext cx="1391305" cy="55337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B81F5DE6-D889-45F6-1418-9B03F0EE4DAC}"/>
                </a:ext>
              </a:extLst>
            </p:cNvPr>
            <p:cNvGrpSpPr/>
            <p:nvPr/>
          </p:nvGrpSpPr>
          <p:grpSpPr>
            <a:xfrm>
              <a:off x="955497" y="4189690"/>
              <a:ext cx="1492734" cy="612368"/>
              <a:chOff x="955497" y="3152001"/>
              <a:chExt cx="1492734" cy="6123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299596D0-DB5B-81E2-5D2F-B1705D774716}"/>
                      </a:ext>
                    </a:extLst>
                  </p:cNvPr>
                  <p:cNvSpPr txBox="1"/>
                  <p:nvPr/>
                </p:nvSpPr>
                <p:spPr>
                  <a:xfrm>
                    <a:off x="955497" y="3290500"/>
                    <a:ext cx="39662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ES_tradnl" dirty="0"/>
                  </a:p>
                </p:txBody>
              </p:sp>
            </mc:Choice>
            <mc:Fallback xmlns="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299596D0-DB5B-81E2-5D2F-B1705D7747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497" y="3290500"/>
                    <a:ext cx="39662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s-ES_trad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AC05BD34-F5CD-9C6A-645C-FA5B74760D99}"/>
                  </a:ext>
                </a:extLst>
              </p:cNvPr>
              <p:cNvSpPr/>
              <p:nvPr/>
            </p:nvSpPr>
            <p:spPr>
              <a:xfrm>
                <a:off x="1848464" y="3152001"/>
                <a:ext cx="599767" cy="61236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CuadroTexto 39">
                    <a:extLst>
                      <a:ext uri="{FF2B5EF4-FFF2-40B4-BE49-F238E27FC236}">
                        <a16:creationId xmlns:a16="http://schemas.microsoft.com/office/drawing/2014/main" id="{DD62F173-2103-BC51-B941-3D9D46C217E6}"/>
                      </a:ext>
                    </a:extLst>
                  </p:cNvPr>
                  <p:cNvSpPr txBox="1"/>
                  <p:nvPr/>
                </p:nvSpPr>
                <p:spPr>
                  <a:xfrm>
                    <a:off x="1959868" y="3309904"/>
                    <a:ext cx="39662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ES_tradnl" dirty="0"/>
                  </a:p>
                </p:txBody>
              </p:sp>
            </mc:Choice>
            <mc:Fallback xmlns="">
              <p:sp>
                <p:nvSpPr>
                  <p:cNvPr id="40" name="CuadroTexto 39">
                    <a:extLst>
                      <a:ext uri="{FF2B5EF4-FFF2-40B4-BE49-F238E27FC236}">
                        <a16:creationId xmlns:a16="http://schemas.microsoft.com/office/drawing/2014/main" id="{DD62F173-2103-BC51-B941-3D9D46C217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9868" y="3309904"/>
                    <a:ext cx="39662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s-ES_trad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9CD4E67C-F0F7-3737-3D36-5C4FF3793C57}"/>
                  </a:ext>
                </a:extLst>
              </p:cNvPr>
              <p:cNvCxnSpPr>
                <a:cxnSpLocks/>
                <a:endCxn id="39" idx="2"/>
              </p:cNvCxnSpPr>
              <p:nvPr/>
            </p:nvCxnSpPr>
            <p:spPr>
              <a:xfrm flipV="1">
                <a:off x="1350839" y="3458185"/>
                <a:ext cx="497625" cy="978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3F5E4A12-9890-5709-4FF9-BB83A89D2FE9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 flipV="1">
              <a:off x="2448231" y="4189690"/>
              <a:ext cx="1391305" cy="3061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C785E720-14E2-6784-B74C-F5320265A1C7}"/>
                    </a:ext>
                  </a:extLst>
                </p:cNvPr>
                <p:cNvSpPr txBox="1"/>
                <p:nvPr/>
              </p:nvSpPr>
              <p:spPr>
                <a:xfrm>
                  <a:off x="6304935" y="3946407"/>
                  <a:ext cx="18746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𝑎𝑐𝑡𝑖𝑣𝑎𝑡𝑖𝑜𝑛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s-ES_tradnl" dirty="0">
                      <a:solidFill>
                        <a:schemeClr val="accent6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C785E720-14E2-6784-B74C-F5320265A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4935" y="3946407"/>
                  <a:ext cx="187468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356" r="-2013" b="-3478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3AEBACFB-4146-C8F1-D54A-50E9954CF390}"/>
                    </a:ext>
                  </a:extLst>
                </p:cNvPr>
                <p:cNvSpPr txBox="1"/>
                <p:nvPr/>
              </p:nvSpPr>
              <p:spPr>
                <a:xfrm>
                  <a:off x="3732630" y="3926744"/>
                  <a:ext cx="24653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s-ES_tradn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3AEBACFB-4146-C8F1-D54A-50E9954CF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2630" y="3926744"/>
                  <a:ext cx="2465399" cy="276999"/>
                </a:xfrm>
                <a:prstGeom prst="rect">
                  <a:avLst/>
                </a:prstGeom>
                <a:blipFill>
                  <a:blip r:embed="rId8"/>
                  <a:stretch>
                    <a:fillRect t="-8696" b="-3478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034B08E7-C781-5368-72D8-FF238414B4A7}"/>
                </a:ext>
              </a:extLst>
            </p:cNvPr>
            <p:cNvCxnSpPr>
              <a:stCxn id="28" idx="3"/>
            </p:cNvCxnSpPr>
            <p:nvPr/>
          </p:nvCxnSpPr>
          <p:spPr>
            <a:xfrm flipV="1">
              <a:off x="8342710" y="4080961"/>
              <a:ext cx="88978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/>
                <p:nvPr/>
              </p:nvSpPr>
              <p:spPr>
                <a:xfrm>
                  <a:off x="9271981" y="3903622"/>
                  <a:ext cx="6556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1981" y="3903622"/>
                  <a:ext cx="65562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9615" t="-4348" r="-13462" b="-3043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CA2C933-F9AC-25A3-1252-8F235BADBD4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 amt="18000"/>
          </a:blip>
          <a:srcRect l="23534" r="2442" b="20669"/>
          <a:stretch/>
        </p:blipFill>
        <p:spPr>
          <a:xfrm>
            <a:off x="0" y="9"/>
            <a:ext cx="12188951" cy="6857991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58940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60" y="1112108"/>
            <a:ext cx="11126547" cy="1540153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El perceptrón se corresponde con una arquitectura compuesta por una única capa de </a:t>
            </a:r>
            <a:r>
              <a:rPr lang="es-ES" sz="2400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TLUs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Permite la clasificación de instancias en diferentes clases binarias de manera simultánea. </a:t>
            </a:r>
            <a:endParaRPr lang="es-ES_tradn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D71FA8F-1A17-F0C1-3627-C0DAA7EA06F7}"/>
                  </a:ext>
                </a:extLst>
              </p:cNvPr>
              <p:cNvSpPr txBox="1"/>
              <p:nvPr/>
            </p:nvSpPr>
            <p:spPr>
              <a:xfrm>
                <a:off x="2128537" y="2938796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D71FA8F-1A17-F0C1-3627-C0DAA7EA0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537" y="2938796"/>
                <a:ext cx="396624" cy="215444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3AEBACFB-4146-C8F1-D54A-50E9954CF390}"/>
                  </a:ext>
                </a:extLst>
              </p:cNvPr>
              <p:cNvSpPr txBox="1"/>
              <p:nvPr/>
            </p:nvSpPr>
            <p:spPr>
              <a:xfrm>
                <a:off x="6667601" y="3103958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3AEBACFB-4146-C8F1-D54A-50E9954CF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1" y="3103958"/>
                <a:ext cx="4611387" cy="276999"/>
              </a:xfrm>
              <a:prstGeom prst="rect">
                <a:avLst/>
              </a:prstGeom>
              <a:blipFill>
                <a:blip r:embed="rId4"/>
                <a:stretch>
                  <a:fillRect t="-4348"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0B26783C-C0AD-521D-7317-953C73F1439A}"/>
              </a:ext>
            </a:extLst>
          </p:cNvPr>
          <p:cNvGrpSpPr/>
          <p:nvPr/>
        </p:nvGrpSpPr>
        <p:grpSpPr>
          <a:xfrm>
            <a:off x="1677928" y="2867375"/>
            <a:ext cx="4865440" cy="2566279"/>
            <a:chOff x="1651034" y="2595570"/>
            <a:chExt cx="4865440" cy="2566279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D3BFFF7-8B9C-CA22-539D-5F4B68C30D87}"/>
                </a:ext>
              </a:extLst>
            </p:cNvPr>
            <p:cNvSpPr/>
            <p:nvPr/>
          </p:nvSpPr>
          <p:spPr>
            <a:xfrm>
              <a:off x="3308431" y="2595570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13C15E6-758C-3F14-A9E5-DABE282CAFDD}"/>
                    </a:ext>
                  </a:extLst>
                </p:cNvPr>
                <p:cNvSpPr txBox="1"/>
                <p:nvPr/>
              </p:nvSpPr>
              <p:spPr>
                <a:xfrm>
                  <a:off x="1651034" y="2744764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13C15E6-758C-3F14-A9E5-DABE282CA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034" y="2744764"/>
                  <a:ext cx="396624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299596D0-DB5B-81E2-5D2F-B1705D774716}"/>
                    </a:ext>
                  </a:extLst>
                </p:cNvPr>
                <p:cNvSpPr txBox="1"/>
                <p:nvPr/>
              </p:nvSpPr>
              <p:spPr>
                <a:xfrm>
                  <a:off x="1651034" y="3693371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299596D0-DB5B-81E2-5D2F-B1705D774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034" y="3693371"/>
                  <a:ext cx="39662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034B08E7-C781-5368-72D8-FF238414B4A7}"/>
                </a:ext>
              </a:extLst>
            </p:cNvPr>
            <p:cNvCxnSpPr>
              <a:cxnSpLocks/>
            </p:cNvCxnSpPr>
            <p:nvPr/>
          </p:nvCxnSpPr>
          <p:spPr>
            <a:xfrm>
              <a:off x="4099287" y="2971380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/>
                <p:nvPr/>
              </p:nvSpPr>
              <p:spPr>
                <a:xfrm>
                  <a:off x="4741501" y="2663924"/>
                  <a:ext cx="1764329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2663924"/>
                  <a:ext cx="1764329" cy="617861"/>
                </a:xfrm>
                <a:prstGeom prst="rect">
                  <a:avLst/>
                </a:prstGeom>
                <a:blipFill>
                  <a:blip r:embed="rId7"/>
                  <a:stretch>
                    <a:fillRect l="-2857" t="-228571" r="-50714" b="-330612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B9E2823B-587A-4FF4-F6A8-8463DBF7FFE3}"/>
                </a:ext>
              </a:extLst>
            </p:cNvPr>
            <p:cNvSpPr/>
            <p:nvPr/>
          </p:nvSpPr>
          <p:spPr>
            <a:xfrm>
              <a:off x="3312507" y="3503525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B36C0D8-2CA5-7AA8-BD78-C1A6DA330471}"/>
                </a:ext>
              </a:extLst>
            </p:cNvPr>
            <p:cNvSpPr/>
            <p:nvPr/>
          </p:nvSpPr>
          <p:spPr>
            <a:xfrm>
              <a:off x="3308431" y="4410228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38A3938-BE77-36FE-E6A3-143395AF8A0B}"/>
                    </a:ext>
                  </a:extLst>
                </p:cNvPr>
                <p:cNvSpPr txBox="1"/>
                <p:nvPr/>
              </p:nvSpPr>
              <p:spPr>
                <a:xfrm>
                  <a:off x="1657758" y="4677075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38A3938-BE77-36FE-E6A3-143395AF8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758" y="4677075"/>
                  <a:ext cx="396624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8DE71927-0E10-C5D1-6852-EC4BE4CF2801}"/>
                </a:ext>
              </a:extLst>
            </p:cNvPr>
            <p:cNvCxnSpPr>
              <a:cxnSpLocks/>
            </p:cNvCxnSpPr>
            <p:nvPr/>
          </p:nvCxnSpPr>
          <p:spPr>
            <a:xfrm>
              <a:off x="2053772" y="2888330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47A6AA60-67DB-5A8E-8B29-3E1241F03FC2}"/>
                </a:ext>
              </a:extLst>
            </p:cNvPr>
            <p:cNvCxnSpPr>
              <a:cxnSpLocks/>
            </p:cNvCxnSpPr>
            <p:nvPr/>
          </p:nvCxnSpPr>
          <p:spPr>
            <a:xfrm>
              <a:off x="2055530" y="4819326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CD31767D-D465-54FE-9787-73338D616DD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047658" y="2883264"/>
              <a:ext cx="1269937" cy="8770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232BCE48-8526-35A7-6FE2-466B82F6FB7C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047658" y="2883264"/>
              <a:ext cx="1266887" cy="179381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43DB146B-50FF-4C4F-3BE7-DEE9883DF158}"/>
                </a:ext>
              </a:extLst>
            </p:cNvPr>
            <p:cNvCxnSpPr>
              <a:cxnSpLocks/>
              <a:stCxn id="38" idx="3"/>
              <a:endCxn id="5" idx="2"/>
            </p:cNvCxnSpPr>
            <p:nvPr/>
          </p:nvCxnSpPr>
          <p:spPr>
            <a:xfrm>
              <a:off x="2047658" y="3831871"/>
              <a:ext cx="1260773" cy="9541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C79004D8-292A-79B2-892C-6D477DF04714}"/>
                </a:ext>
              </a:extLst>
            </p:cNvPr>
            <p:cNvCxnSpPr>
              <a:cxnSpLocks/>
              <a:stCxn id="38" idx="3"/>
              <a:endCxn id="17" idx="2"/>
            </p:cNvCxnSpPr>
            <p:nvPr/>
          </p:nvCxnSpPr>
          <p:spPr>
            <a:xfrm flipV="1">
              <a:off x="2047658" y="2971381"/>
              <a:ext cx="1260773" cy="8604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74141CE9-23A2-E854-B364-E9EE9F689580}"/>
                </a:ext>
              </a:extLst>
            </p:cNvPr>
            <p:cNvCxnSpPr>
              <a:cxnSpLocks/>
            </p:cNvCxnSpPr>
            <p:nvPr/>
          </p:nvCxnSpPr>
          <p:spPr>
            <a:xfrm>
              <a:off x="2053772" y="3826324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10BFED13-C368-00FE-AA8C-5A460CEE9BB9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2054382" y="3099933"/>
              <a:ext cx="1261921" cy="17156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F77CB7DC-F975-D042-F9B9-B06D527BD5C8}"/>
                </a:ext>
              </a:extLst>
            </p:cNvPr>
            <p:cNvCxnSpPr>
              <a:cxnSpLocks/>
              <a:stCxn id="6" idx="3"/>
              <a:endCxn id="4" idx="2"/>
            </p:cNvCxnSpPr>
            <p:nvPr/>
          </p:nvCxnSpPr>
          <p:spPr>
            <a:xfrm flipV="1">
              <a:off x="2054382" y="3879336"/>
              <a:ext cx="1258125" cy="93623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E3CA735D-A480-2D53-FDD7-CF66365041EA}"/>
                </a:ext>
              </a:extLst>
            </p:cNvPr>
            <p:cNvCxnSpPr>
              <a:cxnSpLocks/>
            </p:cNvCxnSpPr>
            <p:nvPr/>
          </p:nvCxnSpPr>
          <p:spPr>
            <a:xfrm>
              <a:off x="4106882" y="3869950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9727ECD9-E22D-190F-15F9-0BAACD1C6474}"/>
                </a:ext>
              </a:extLst>
            </p:cNvPr>
            <p:cNvCxnSpPr>
              <a:cxnSpLocks/>
            </p:cNvCxnSpPr>
            <p:nvPr/>
          </p:nvCxnSpPr>
          <p:spPr>
            <a:xfrm>
              <a:off x="4099286" y="4786038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992DCA86-BA96-4E58-2E92-CE65F2B54782}"/>
                    </a:ext>
                  </a:extLst>
                </p:cNvPr>
                <p:cNvSpPr txBox="1"/>
                <p:nvPr/>
              </p:nvSpPr>
              <p:spPr>
                <a:xfrm>
                  <a:off x="4741501" y="3564332"/>
                  <a:ext cx="1774973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s-ES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992DCA86-BA96-4E58-2E92-CE65F2B54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3564332"/>
                  <a:ext cx="1774973" cy="617861"/>
                </a:xfrm>
                <a:prstGeom prst="rect">
                  <a:avLst/>
                </a:prstGeom>
                <a:blipFill>
                  <a:blip r:embed="rId9"/>
                  <a:stretch>
                    <a:fillRect l="-4965" t="-224000" r="-51064" b="-324000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3E8DA9A-5E80-9E94-0562-3CF2C3D96370}"/>
                    </a:ext>
                  </a:extLst>
                </p:cNvPr>
                <p:cNvSpPr txBox="1"/>
                <p:nvPr/>
              </p:nvSpPr>
              <p:spPr>
                <a:xfrm>
                  <a:off x="4741501" y="4434596"/>
                  <a:ext cx="1774973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3E8DA9A-5E80-9E94-0562-3CF2C3D96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4434596"/>
                  <a:ext cx="1774973" cy="617861"/>
                </a:xfrm>
                <a:prstGeom prst="rect">
                  <a:avLst/>
                </a:prstGeom>
                <a:blipFill>
                  <a:blip r:embed="rId10"/>
                  <a:stretch>
                    <a:fillRect l="-2837" t="-224000" r="-50355" b="-322000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5124184-C14D-82B5-3039-1840CB308DE7}"/>
                  </a:ext>
                </a:extLst>
              </p:cNvPr>
              <p:cNvSpPr txBox="1"/>
              <p:nvPr/>
            </p:nvSpPr>
            <p:spPr>
              <a:xfrm>
                <a:off x="2354030" y="3190365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5124184-C14D-82B5-3039-1840CB308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30" y="3190365"/>
                <a:ext cx="396624" cy="215444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DEEC0E-1865-C5A6-1043-27111EA828C0}"/>
                  </a:ext>
                </a:extLst>
              </p:cNvPr>
              <p:cNvSpPr txBox="1"/>
              <p:nvPr/>
            </p:nvSpPr>
            <p:spPr>
              <a:xfrm>
                <a:off x="2351485" y="3467009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DEEC0E-1865-C5A6-1043-27111EA8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485" y="3467009"/>
                <a:ext cx="396624" cy="215444"/>
              </a:xfrm>
              <a:prstGeom prst="rect">
                <a:avLst/>
              </a:prstGeom>
              <a:blipFill>
                <a:blip r:embed="rId12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117992D4-D1A9-1C02-09FA-79AA627BA571}"/>
                  </a:ext>
                </a:extLst>
              </p:cNvPr>
              <p:cNvSpPr txBox="1"/>
              <p:nvPr/>
            </p:nvSpPr>
            <p:spPr>
              <a:xfrm>
                <a:off x="1975539" y="3723745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117992D4-D1A9-1C02-09FA-79AA627BA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539" y="3723745"/>
                <a:ext cx="396624" cy="215444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6CEB64FD-2F45-227D-5E47-353E5F8DFA2D}"/>
                  </a:ext>
                </a:extLst>
              </p:cNvPr>
              <p:cNvSpPr txBox="1"/>
              <p:nvPr/>
            </p:nvSpPr>
            <p:spPr>
              <a:xfrm>
                <a:off x="2296902" y="3890094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6CEB64FD-2F45-227D-5E47-353E5F8DF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02" y="3890094"/>
                <a:ext cx="396624" cy="215444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89C55B4-74E3-E989-1FE9-161F995D2D8B}"/>
                  </a:ext>
                </a:extLst>
              </p:cNvPr>
              <p:cNvSpPr txBox="1"/>
              <p:nvPr/>
            </p:nvSpPr>
            <p:spPr>
              <a:xfrm>
                <a:off x="2296902" y="4145858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89C55B4-74E3-E989-1FE9-161F995D2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02" y="4145858"/>
                <a:ext cx="396624" cy="215444"/>
              </a:xfrm>
              <a:prstGeom prst="rect">
                <a:avLst/>
              </a:prstGeom>
              <a:blipFill>
                <a:blip r:embed="rId1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CF4BCE6-3E8B-0228-6963-F8BBCF29179B}"/>
                  </a:ext>
                </a:extLst>
              </p:cNvPr>
              <p:cNvSpPr txBox="1"/>
              <p:nvPr/>
            </p:nvSpPr>
            <p:spPr>
              <a:xfrm>
                <a:off x="2059721" y="4635945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CF4BCE6-3E8B-0228-6963-F8BBCF291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721" y="4635945"/>
                <a:ext cx="228259" cy="215444"/>
              </a:xfrm>
              <a:prstGeom prst="rect">
                <a:avLst/>
              </a:prstGeom>
              <a:blipFill>
                <a:blip r:embed="rId16"/>
                <a:stretch>
                  <a:fillRect l="-16667" r="-5556" b="-52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27FC5717-C889-31E1-9A65-02152A46344F}"/>
                  </a:ext>
                </a:extLst>
              </p:cNvPr>
              <p:cNvSpPr txBox="1"/>
              <p:nvPr/>
            </p:nvSpPr>
            <p:spPr>
              <a:xfrm>
                <a:off x="2356604" y="4799422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27FC5717-C889-31E1-9A65-02152A46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604" y="4799422"/>
                <a:ext cx="228259" cy="215444"/>
              </a:xfrm>
              <a:prstGeom prst="rect">
                <a:avLst/>
              </a:prstGeom>
              <a:blipFill>
                <a:blip r:embed="rId17"/>
                <a:stretch>
                  <a:fillRect l="-15789" r="-5263" b="-52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54799020-F3C5-3D32-579E-1AA4A2A5C6A0}"/>
                  </a:ext>
                </a:extLst>
              </p:cNvPr>
              <p:cNvSpPr txBox="1"/>
              <p:nvPr/>
            </p:nvSpPr>
            <p:spPr>
              <a:xfrm>
                <a:off x="2155956" y="5090996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54799020-F3C5-3D32-579E-1AA4A2A5C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956" y="5090996"/>
                <a:ext cx="228259" cy="215444"/>
              </a:xfrm>
              <a:prstGeom prst="rect">
                <a:avLst/>
              </a:prstGeom>
              <a:blipFill>
                <a:blip r:embed="rId18"/>
                <a:stretch>
                  <a:fillRect l="-15789" r="-5263" b="-1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7455DCD8-4FA9-573D-867F-1BF00F83952D}"/>
              </a:ext>
            </a:extLst>
          </p:cNvPr>
          <p:cNvCxnSpPr>
            <a:stCxn id="17" idx="0"/>
            <a:endCxn id="17" idx="4"/>
          </p:cNvCxnSpPr>
          <p:nvPr/>
        </p:nvCxnSpPr>
        <p:spPr>
          <a:xfrm>
            <a:off x="3732513" y="2867375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287C77EF-0DD3-D4F0-5165-9B507907AEC6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3736589" y="3775330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8F2CB6E5-A0DE-FC1D-2F93-E305BCF08F2E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732513" y="4682033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62F173-2103-BC51-B941-3D9D46C217E6}"/>
                  </a:ext>
                </a:extLst>
              </p:cNvPr>
              <p:cNvSpPr txBox="1"/>
              <p:nvPr/>
            </p:nvSpPr>
            <p:spPr>
              <a:xfrm>
                <a:off x="3481515" y="3086750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62F173-2103-BC51-B941-3D9D46C21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15" y="3086750"/>
                <a:ext cx="234039" cy="276999"/>
              </a:xfrm>
              <a:prstGeom prst="rect">
                <a:avLst/>
              </a:prstGeom>
              <a:blipFill>
                <a:blip r:embed="rId19"/>
                <a:stretch>
                  <a:fillRect l="-21053" r="-10526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F89271C9-CED8-D357-932A-AFCDC853A3C2}"/>
                  </a:ext>
                </a:extLst>
              </p:cNvPr>
              <p:cNvSpPr txBox="1"/>
              <p:nvPr/>
            </p:nvSpPr>
            <p:spPr>
              <a:xfrm>
                <a:off x="3478390" y="3959629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F89271C9-CED8-D357-932A-AFCDC853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90" y="3959629"/>
                <a:ext cx="234039" cy="276999"/>
              </a:xfrm>
              <a:prstGeom prst="rect">
                <a:avLst/>
              </a:prstGeom>
              <a:blipFill>
                <a:blip r:embed="rId20"/>
                <a:stretch>
                  <a:fillRect l="-21053" r="-10526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2F1C31C7-00BF-D8A0-46F5-2798F562F14A}"/>
                  </a:ext>
                </a:extLst>
              </p:cNvPr>
              <p:cNvSpPr txBox="1"/>
              <p:nvPr/>
            </p:nvSpPr>
            <p:spPr>
              <a:xfrm>
                <a:off x="3471667" y="4876366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2F1C31C7-00BF-D8A0-46F5-2798F562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667" y="4876366"/>
                <a:ext cx="234039" cy="276999"/>
              </a:xfrm>
              <a:prstGeom prst="rect">
                <a:avLst/>
              </a:prstGeom>
              <a:blipFill>
                <a:blip r:embed="rId21"/>
                <a:stretch>
                  <a:fillRect l="-21053" r="-15789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58BBBEF8-FAB8-DF4F-D61E-B681C70CF79C}"/>
                  </a:ext>
                </a:extLst>
              </p:cNvPr>
              <p:cNvSpPr txBox="1"/>
              <p:nvPr/>
            </p:nvSpPr>
            <p:spPr>
              <a:xfrm>
                <a:off x="3784198" y="3097554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58BBBEF8-FAB8-DF4F-D61E-B681C70C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198" y="3097554"/>
                <a:ext cx="234039" cy="276999"/>
              </a:xfrm>
              <a:prstGeom prst="rect">
                <a:avLst/>
              </a:prstGeom>
              <a:blipFill>
                <a:blip r:embed="rId22"/>
                <a:stretch>
                  <a:fillRect l="-26316" r="-15789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BB19F16E-9B24-8815-C2A7-9CBC8287C7FA}"/>
                  </a:ext>
                </a:extLst>
              </p:cNvPr>
              <p:cNvSpPr txBox="1"/>
              <p:nvPr/>
            </p:nvSpPr>
            <p:spPr>
              <a:xfrm>
                <a:off x="3835525" y="3987514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BB19F16E-9B24-8815-C2A7-9CBC8287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25" y="3987514"/>
                <a:ext cx="234039" cy="276999"/>
              </a:xfrm>
              <a:prstGeom prst="rect">
                <a:avLst/>
              </a:prstGeom>
              <a:blipFill>
                <a:blip r:embed="rId23"/>
                <a:stretch>
                  <a:fillRect l="-20000" r="-15000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DB4E543C-DA0B-527C-3001-FAFD3A9B832E}"/>
                  </a:ext>
                </a:extLst>
              </p:cNvPr>
              <p:cNvSpPr txBox="1"/>
              <p:nvPr/>
            </p:nvSpPr>
            <p:spPr>
              <a:xfrm>
                <a:off x="3807127" y="4876366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DB4E543C-DA0B-527C-3001-FAFD3A9B8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27" y="4876366"/>
                <a:ext cx="234039" cy="276999"/>
              </a:xfrm>
              <a:prstGeom prst="rect">
                <a:avLst/>
              </a:prstGeom>
              <a:blipFill>
                <a:blip r:embed="rId24"/>
                <a:stretch>
                  <a:fillRect l="-26316" r="-15789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853A70BF-114B-B2F9-F597-DB93F2EFDB7C}"/>
                  </a:ext>
                </a:extLst>
              </p:cNvPr>
              <p:cNvSpPr txBox="1"/>
              <p:nvPr/>
            </p:nvSpPr>
            <p:spPr>
              <a:xfrm>
                <a:off x="6667601" y="3975284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853A70BF-114B-B2F9-F597-DB93F2EF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1" y="3975284"/>
                <a:ext cx="4611387" cy="276999"/>
              </a:xfrm>
              <a:prstGeom prst="rect">
                <a:avLst/>
              </a:prstGeom>
              <a:blipFill>
                <a:blip r:embed="rId25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142410CE-0925-223C-28E2-915CB8E92D7B}"/>
                  </a:ext>
                </a:extLst>
              </p:cNvPr>
              <p:cNvSpPr txBox="1"/>
              <p:nvPr/>
            </p:nvSpPr>
            <p:spPr>
              <a:xfrm>
                <a:off x="6667600" y="4845100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142410CE-0925-223C-28E2-915CB8E92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0" y="4845100"/>
                <a:ext cx="4611387" cy="276999"/>
              </a:xfrm>
              <a:prstGeom prst="rect">
                <a:avLst/>
              </a:prstGeom>
              <a:blipFill>
                <a:blip r:embed="rId26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F8EA51D5-BE54-BCD7-0EA5-73CD79254511}"/>
              </a:ext>
            </a:extLst>
          </p:cNvPr>
          <p:cNvSpPr txBox="1"/>
          <p:nvPr/>
        </p:nvSpPr>
        <p:spPr>
          <a:xfrm>
            <a:off x="1182776" y="2569050"/>
            <a:ext cx="121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Input </a:t>
            </a:r>
            <a:r>
              <a:rPr lang="es-ES_tradnl" b="1" i="1" dirty="0" err="1"/>
              <a:t>layer</a:t>
            </a:r>
            <a:endParaRPr lang="es-ES_tradnl" b="1" i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BB3CA0-CBE9-FC32-83BA-2CF18BDC2FED}"/>
              </a:ext>
            </a:extLst>
          </p:cNvPr>
          <p:cNvSpPr txBox="1"/>
          <p:nvPr/>
        </p:nvSpPr>
        <p:spPr>
          <a:xfrm>
            <a:off x="2946920" y="2569050"/>
            <a:ext cx="148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Output </a:t>
            </a:r>
            <a:r>
              <a:rPr lang="es-ES_tradnl" b="1" i="1" dirty="0" err="1"/>
              <a:t>layer</a:t>
            </a:r>
            <a:endParaRPr lang="es-ES_tradnl" b="1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13D85C2-663B-978A-9D8C-4F2721F422FB}"/>
              </a:ext>
            </a:extLst>
          </p:cNvPr>
          <p:cNvSpPr txBox="1"/>
          <p:nvPr/>
        </p:nvSpPr>
        <p:spPr>
          <a:xfrm>
            <a:off x="4983559" y="2578391"/>
            <a:ext cx="121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outputs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C382D-1725-0360-92A3-54E7AE97418E}"/>
              </a:ext>
            </a:extLst>
          </p:cNvPr>
          <p:cNvSpPr txBox="1"/>
          <p:nvPr/>
        </p:nvSpPr>
        <p:spPr>
          <a:xfrm>
            <a:off x="6645072" y="5601902"/>
            <a:ext cx="5246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C00000"/>
                </a:solidFill>
              </a:rPr>
              <a:t>En este caso, para un perceptrón de tres TLU, se tienen 9 parámetros entre pesos (</a:t>
            </a:r>
            <a:r>
              <a:rPr lang="es-ES_tradnl" i="1" dirty="0">
                <a:solidFill>
                  <a:srgbClr val="C00000"/>
                </a:solidFill>
              </a:rPr>
              <a:t>w</a:t>
            </a:r>
            <a:r>
              <a:rPr lang="es-ES_tradnl" dirty="0">
                <a:solidFill>
                  <a:srgbClr val="C00000"/>
                </a:solidFill>
              </a:rPr>
              <a:t>) y </a:t>
            </a:r>
            <a:r>
              <a:rPr lang="es-ES_tradnl" dirty="0" err="1">
                <a:solidFill>
                  <a:srgbClr val="C00000"/>
                </a:solidFill>
              </a:rPr>
              <a:t>bias</a:t>
            </a:r>
            <a:r>
              <a:rPr lang="es-ES_tradnl" dirty="0">
                <a:solidFill>
                  <a:srgbClr val="C00000"/>
                </a:solidFill>
              </a:rPr>
              <a:t> (</a:t>
            </a:r>
            <a:r>
              <a:rPr lang="es-ES_tradnl" i="1" dirty="0">
                <a:solidFill>
                  <a:srgbClr val="C00000"/>
                </a:solidFill>
              </a:rPr>
              <a:t>b</a:t>
            </a:r>
            <a:r>
              <a:rPr lang="es-ES_tradnl" dirty="0">
                <a:solidFill>
                  <a:srgbClr val="C00000"/>
                </a:solidFill>
              </a:rPr>
              <a:t>), de los cuales se deben encontrar los valores óptimos para que la predicción sea la más adecuada.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B887A32-56E8-DBBF-F969-FE5732498955}"/>
              </a:ext>
            </a:extLst>
          </p:cNvPr>
          <p:cNvSpPr/>
          <p:nvPr/>
        </p:nvSpPr>
        <p:spPr>
          <a:xfrm>
            <a:off x="9268230" y="2947723"/>
            <a:ext cx="1764144" cy="2358717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0338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60" y="1112108"/>
            <a:ext cx="11126547" cy="1540153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El perceptrón se corresponde con una arquitectura compuesta por una única capa de </a:t>
            </a:r>
            <a:r>
              <a:rPr lang="es-ES" sz="2400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TLUs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Permite la clasificación de instancias en diferentes clases binarias de manera simultánea. </a:t>
            </a:r>
            <a:endParaRPr lang="es-ES_tradn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D71FA8F-1A17-F0C1-3627-C0DAA7EA06F7}"/>
                  </a:ext>
                </a:extLst>
              </p:cNvPr>
              <p:cNvSpPr txBox="1"/>
              <p:nvPr/>
            </p:nvSpPr>
            <p:spPr>
              <a:xfrm>
                <a:off x="2128537" y="2938796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D71FA8F-1A17-F0C1-3627-C0DAA7EA0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537" y="2938796"/>
                <a:ext cx="396624" cy="215444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3AEBACFB-4146-C8F1-D54A-50E9954CF390}"/>
                  </a:ext>
                </a:extLst>
              </p:cNvPr>
              <p:cNvSpPr txBox="1"/>
              <p:nvPr/>
            </p:nvSpPr>
            <p:spPr>
              <a:xfrm>
                <a:off x="6667601" y="3103958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3AEBACFB-4146-C8F1-D54A-50E9954CF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1" y="3103958"/>
                <a:ext cx="4611387" cy="276999"/>
              </a:xfrm>
              <a:prstGeom prst="rect">
                <a:avLst/>
              </a:prstGeom>
              <a:blipFill>
                <a:blip r:embed="rId4"/>
                <a:stretch>
                  <a:fillRect t="-4348"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0B26783C-C0AD-521D-7317-953C73F1439A}"/>
              </a:ext>
            </a:extLst>
          </p:cNvPr>
          <p:cNvGrpSpPr/>
          <p:nvPr/>
        </p:nvGrpSpPr>
        <p:grpSpPr>
          <a:xfrm>
            <a:off x="1677928" y="2867375"/>
            <a:ext cx="4865440" cy="2566279"/>
            <a:chOff x="1651034" y="2595570"/>
            <a:chExt cx="4865440" cy="2566279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D3BFFF7-8B9C-CA22-539D-5F4B68C30D87}"/>
                </a:ext>
              </a:extLst>
            </p:cNvPr>
            <p:cNvSpPr/>
            <p:nvPr/>
          </p:nvSpPr>
          <p:spPr>
            <a:xfrm>
              <a:off x="3308431" y="2595570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13C15E6-758C-3F14-A9E5-DABE282CAFDD}"/>
                    </a:ext>
                  </a:extLst>
                </p:cNvPr>
                <p:cNvSpPr txBox="1"/>
                <p:nvPr/>
              </p:nvSpPr>
              <p:spPr>
                <a:xfrm>
                  <a:off x="1651034" y="2744764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13C15E6-758C-3F14-A9E5-DABE282CA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034" y="2744764"/>
                  <a:ext cx="396624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299596D0-DB5B-81E2-5D2F-B1705D774716}"/>
                    </a:ext>
                  </a:extLst>
                </p:cNvPr>
                <p:cNvSpPr txBox="1"/>
                <p:nvPr/>
              </p:nvSpPr>
              <p:spPr>
                <a:xfrm>
                  <a:off x="1651034" y="3693371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299596D0-DB5B-81E2-5D2F-B1705D774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034" y="3693371"/>
                  <a:ext cx="39662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034B08E7-C781-5368-72D8-FF238414B4A7}"/>
                </a:ext>
              </a:extLst>
            </p:cNvPr>
            <p:cNvCxnSpPr>
              <a:cxnSpLocks/>
            </p:cNvCxnSpPr>
            <p:nvPr/>
          </p:nvCxnSpPr>
          <p:spPr>
            <a:xfrm>
              <a:off x="4099287" y="2971380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/>
                <p:nvPr/>
              </p:nvSpPr>
              <p:spPr>
                <a:xfrm>
                  <a:off x="4741501" y="2663924"/>
                  <a:ext cx="1764329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337863DE-8227-963D-82A0-D14F40E6F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2663924"/>
                  <a:ext cx="1764329" cy="617861"/>
                </a:xfrm>
                <a:prstGeom prst="rect">
                  <a:avLst/>
                </a:prstGeom>
                <a:blipFill>
                  <a:blip r:embed="rId7"/>
                  <a:stretch>
                    <a:fillRect l="-2857" t="-228571" r="-50714" b="-330612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B9E2823B-587A-4FF4-F6A8-8463DBF7FFE3}"/>
                </a:ext>
              </a:extLst>
            </p:cNvPr>
            <p:cNvSpPr/>
            <p:nvPr/>
          </p:nvSpPr>
          <p:spPr>
            <a:xfrm>
              <a:off x="3312507" y="3503525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B36C0D8-2CA5-7AA8-BD78-C1A6DA330471}"/>
                </a:ext>
              </a:extLst>
            </p:cNvPr>
            <p:cNvSpPr/>
            <p:nvPr/>
          </p:nvSpPr>
          <p:spPr>
            <a:xfrm>
              <a:off x="3308431" y="4410228"/>
              <a:ext cx="794375" cy="7516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38A3938-BE77-36FE-E6A3-143395AF8A0B}"/>
                    </a:ext>
                  </a:extLst>
                </p:cNvPr>
                <p:cNvSpPr txBox="1"/>
                <p:nvPr/>
              </p:nvSpPr>
              <p:spPr>
                <a:xfrm>
                  <a:off x="1657758" y="4677075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ES_tradnl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E38A3938-BE77-36FE-E6A3-143395AF8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758" y="4677075"/>
                  <a:ext cx="396624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8DE71927-0E10-C5D1-6852-EC4BE4CF2801}"/>
                </a:ext>
              </a:extLst>
            </p:cNvPr>
            <p:cNvCxnSpPr>
              <a:cxnSpLocks/>
            </p:cNvCxnSpPr>
            <p:nvPr/>
          </p:nvCxnSpPr>
          <p:spPr>
            <a:xfrm>
              <a:off x="2053772" y="2888330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47A6AA60-67DB-5A8E-8B29-3E1241F03FC2}"/>
                </a:ext>
              </a:extLst>
            </p:cNvPr>
            <p:cNvCxnSpPr>
              <a:cxnSpLocks/>
            </p:cNvCxnSpPr>
            <p:nvPr/>
          </p:nvCxnSpPr>
          <p:spPr>
            <a:xfrm>
              <a:off x="2055530" y="4819326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CD31767D-D465-54FE-9787-73338D616DD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047658" y="2883264"/>
              <a:ext cx="1269937" cy="8770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232BCE48-8526-35A7-6FE2-466B82F6FB7C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047658" y="2883264"/>
              <a:ext cx="1266887" cy="179381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43DB146B-50FF-4C4F-3BE7-DEE9883DF158}"/>
                </a:ext>
              </a:extLst>
            </p:cNvPr>
            <p:cNvCxnSpPr>
              <a:cxnSpLocks/>
              <a:stCxn id="38" idx="3"/>
              <a:endCxn id="5" idx="2"/>
            </p:cNvCxnSpPr>
            <p:nvPr/>
          </p:nvCxnSpPr>
          <p:spPr>
            <a:xfrm>
              <a:off x="2047658" y="3831871"/>
              <a:ext cx="1260773" cy="9541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C79004D8-292A-79B2-892C-6D477DF04714}"/>
                </a:ext>
              </a:extLst>
            </p:cNvPr>
            <p:cNvCxnSpPr>
              <a:cxnSpLocks/>
              <a:stCxn id="38" idx="3"/>
              <a:endCxn id="17" idx="2"/>
            </p:cNvCxnSpPr>
            <p:nvPr/>
          </p:nvCxnSpPr>
          <p:spPr>
            <a:xfrm flipV="1">
              <a:off x="2047658" y="2971381"/>
              <a:ext cx="1260773" cy="8604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74141CE9-23A2-E854-B364-E9EE9F689580}"/>
                </a:ext>
              </a:extLst>
            </p:cNvPr>
            <p:cNvCxnSpPr>
              <a:cxnSpLocks/>
            </p:cNvCxnSpPr>
            <p:nvPr/>
          </p:nvCxnSpPr>
          <p:spPr>
            <a:xfrm>
              <a:off x="2053772" y="3826324"/>
              <a:ext cx="1260773" cy="97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10BFED13-C368-00FE-AA8C-5A460CEE9BB9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2054382" y="3099933"/>
              <a:ext cx="1261921" cy="17156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F77CB7DC-F975-D042-F9B9-B06D527BD5C8}"/>
                </a:ext>
              </a:extLst>
            </p:cNvPr>
            <p:cNvCxnSpPr>
              <a:cxnSpLocks/>
              <a:stCxn id="6" idx="3"/>
              <a:endCxn id="4" idx="2"/>
            </p:cNvCxnSpPr>
            <p:nvPr/>
          </p:nvCxnSpPr>
          <p:spPr>
            <a:xfrm flipV="1">
              <a:off x="2054382" y="3879336"/>
              <a:ext cx="1258125" cy="93623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E3CA735D-A480-2D53-FDD7-CF66365041EA}"/>
                </a:ext>
              </a:extLst>
            </p:cNvPr>
            <p:cNvCxnSpPr>
              <a:cxnSpLocks/>
            </p:cNvCxnSpPr>
            <p:nvPr/>
          </p:nvCxnSpPr>
          <p:spPr>
            <a:xfrm>
              <a:off x="4106882" y="3869950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9727ECD9-E22D-190F-15F9-0BAACD1C6474}"/>
                </a:ext>
              </a:extLst>
            </p:cNvPr>
            <p:cNvCxnSpPr>
              <a:cxnSpLocks/>
            </p:cNvCxnSpPr>
            <p:nvPr/>
          </p:nvCxnSpPr>
          <p:spPr>
            <a:xfrm>
              <a:off x="4099286" y="4786038"/>
              <a:ext cx="6139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992DCA86-BA96-4E58-2E92-CE65F2B54782}"/>
                    </a:ext>
                  </a:extLst>
                </p:cNvPr>
                <p:cNvSpPr txBox="1"/>
                <p:nvPr/>
              </p:nvSpPr>
              <p:spPr>
                <a:xfrm>
                  <a:off x="4741501" y="3564332"/>
                  <a:ext cx="1774973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s-ES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992DCA86-BA96-4E58-2E92-CE65F2B54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3564332"/>
                  <a:ext cx="1774973" cy="617861"/>
                </a:xfrm>
                <a:prstGeom prst="rect">
                  <a:avLst/>
                </a:prstGeom>
                <a:blipFill>
                  <a:blip r:embed="rId9"/>
                  <a:stretch>
                    <a:fillRect l="-4965" t="-224000" r="-51064" b="-324000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3E8DA9A-5E80-9E94-0562-3CF2C3D96370}"/>
                    </a:ext>
                  </a:extLst>
                </p:cNvPr>
                <p:cNvSpPr txBox="1"/>
                <p:nvPr/>
              </p:nvSpPr>
              <p:spPr>
                <a:xfrm>
                  <a:off x="4741501" y="4434596"/>
                  <a:ext cx="1774973" cy="6178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3E8DA9A-5E80-9E94-0562-3CF2C3D96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501" y="4434596"/>
                  <a:ext cx="1774973" cy="617861"/>
                </a:xfrm>
                <a:prstGeom prst="rect">
                  <a:avLst/>
                </a:prstGeom>
                <a:blipFill>
                  <a:blip r:embed="rId10"/>
                  <a:stretch>
                    <a:fillRect l="-2837" t="-224000" r="-50355" b="-322000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5124184-C14D-82B5-3039-1840CB308DE7}"/>
                  </a:ext>
                </a:extLst>
              </p:cNvPr>
              <p:cNvSpPr txBox="1"/>
              <p:nvPr/>
            </p:nvSpPr>
            <p:spPr>
              <a:xfrm>
                <a:off x="2354030" y="3190365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25124184-C14D-82B5-3039-1840CB308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30" y="3190365"/>
                <a:ext cx="396624" cy="215444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DEEC0E-1865-C5A6-1043-27111EA828C0}"/>
                  </a:ext>
                </a:extLst>
              </p:cNvPr>
              <p:cNvSpPr txBox="1"/>
              <p:nvPr/>
            </p:nvSpPr>
            <p:spPr>
              <a:xfrm>
                <a:off x="2351485" y="3467009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DEEC0E-1865-C5A6-1043-27111EA8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485" y="3467009"/>
                <a:ext cx="396624" cy="215444"/>
              </a:xfrm>
              <a:prstGeom prst="rect">
                <a:avLst/>
              </a:prstGeom>
              <a:blipFill>
                <a:blip r:embed="rId12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117992D4-D1A9-1C02-09FA-79AA627BA571}"/>
                  </a:ext>
                </a:extLst>
              </p:cNvPr>
              <p:cNvSpPr txBox="1"/>
              <p:nvPr/>
            </p:nvSpPr>
            <p:spPr>
              <a:xfrm>
                <a:off x="1975539" y="3723745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117992D4-D1A9-1C02-09FA-79AA627BA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539" y="3723745"/>
                <a:ext cx="396624" cy="215444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6CEB64FD-2F45-227D-5E47-353E5F8DFA2D}"/>
                  </a:ext>
                </a:extLst>
              </p:cNvPr>
              <p:cNvSpPr txBox="1"/>
              <p:nvPr/>
            </p:nvSpPr>
            <p:spPr>
              <a:xfrm>
                <a:off x="2296902" y="3890094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6CEB64FD-2F45-227D-5E47-353E5F8DF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02" y="3890094"/>
                <a:ext cx="396624" cy="215444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89C55B4-74E3-E989-1FE9-161F995D2D8B}"/>
                  </a:ext>
                </a:extLst>
              </p:cNvPr>
              <p:cNvSpPr txBox="1"/>
              <p:nvPr/>
            </p:nvSpPr>
            <p:spPr>
              <a:xfrm>
                <a:off x="2296902" y="4145858"/>
                <a:ext cx="39662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689C55B4-74E3-E989-1FE9-161F995D2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02" y="4145858"/>
                <a:ext cx="396624" cy="215444"/>
              </a:xfrm>
              <a:prstGeom prst="rect">
                <a:avLst/>
              </a:prstGeom>
              <a:blipFill>
                <a:blip r:embed="rId1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CF4BCE6-3E8B-0228-6963-F8BBCF29179B}"/>
                  </a:ext>
                </a:extLst>
              </p:cNvPr>
              <p:cNvSpPr txBox="1"/>
              <p:nvPr/>
            </p:nvSpPr>
            <p:spPr>
              <a:xfrm>
                <a:off x="2059721" y="4635945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CF4BCE6-3E8B-0228-6963-F8BBCF291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721" y="4635945"/>
                <a:ext cx="228259" cy="215444"/>
              </a:xfrm>
              <a:prstGeom prst="rect">
                <a:avLst/>
              </a:prstGeom>
              <a:blipFill>
                <a:blip r:embed="rId16"/>
                <a:stretch>
                  <a:fillRect l="-16667" r="-5556" b="-52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27FC5717-C889-31E1-9A65-02152A46344F}"/>
                  </a:ext>
                </a:extLst>
              </p:cNvPr>
              <p:cNvSpPr txBox="1"/>
              <p:nvPr/>
            </p:nvSpPr>
            <p:spPr>
              <a:xfrm>
                <a:off x="2356604" y="4799422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27FC5717-C889-31E1-9A65-02152A46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604" y="4799422"/>
                <a:ext cx="228259" cy="215444"/>
              </a:xfrm>
              <a:prstGeom prst="rect">
                <a:avLst/>
              </a:prstGeom>
              <a:blipFill>
                <a:blip r:embed="rId17"/>
                <a:stretch>
                  <a:fillRect l="-15789" r="-5263" b="-52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54799020-F3C5-3D32-579E-1AA4A2A5C6A0}"/>
                  </a:ext>
                </a:extLst>
              </p:cNvPr>
              <p:cNvSpPr txBox="1"/>
              <p:nvPr/>
            </p:nvSpPr>
            <p:spPr>
              <a:xfrm>
                <a:off x="2155956" y="5090996"/>
                <a:ext cx="22825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54799020-F3C5-3D32-579E-1AA4A2A5C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956" y="5090996"/>
                <a:ext cx="228259" cy="215444"/>
              </a:xfrm>
              <a:prstGeom prst="rect">
                <a:avLst/>
              </a:prstGeom>
              <a:blipFill>
                <a:blip r:embed="rId18"/>
                <a:stretch>
                  <a:fillRect l="-15789" r="-5263" b="-1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7455DCD8-4FA9-573D-867F-1BF00F83952D}"/>
              </a:ext>
            </a:extLst>
          </p:cNvPr>
          <p:cNvCxnSpPr>
            <a:stCxn id="17" idx="0"/>
            <a:endCxn id="17" idx="4"/>
          </p:cNvCxnSpPr>
          <p:nvPr/>
        </p:nvCxnSpPr>
        <p:spPr>
          <a:xfrm>
            <a:off x="3732513" y="2867375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287C77EF-0DD3-D4F0-5165-9B507907AEC6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3736589" y="3775330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8F2CB6E5-A0DE-FC1D-2F93-E305BCF08F2E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3732513" y="4682033"/>
            <a:ext cx="0" cy="751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62F173-2103-BC51-B941-3D9D46C217E6}"/>
                  </a:ext>
                </a:extLst>
              </p:cNvPr>
              <p:cNvSpPr txBox="1"/>
              <p:nvPr/>
            </p:nvSpPr>
            <p:spPr>
              <a:xfrm>
                <a:off x="3481515" y="3086750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62F173-2103-BC51-B941-3D9D46C21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15" y="3086750"/>
                <a:ext cx="234039" cy="276999"/>
              </a:xfrm>
              <a:prstGeom prst="rect">
                <a:avLst/>
              </a:prstGeom>
              <a:blipFill>
                <a:blip r:embed="rId19"/>
                <a:stretch>
                  <a:fillRect l="-21053" r="-10526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F89271C9-CED8-D357-932A-AFCDC853A3C2}"/>
                  </a:ext>
                </a:extLst>
              </p:cNvPr>
              <p:cNvSpPr txBox="1"/>
              <p:nvPr/>
            </p:nvSpPr>
            <p:spPr>
              <a:xfrm>
                <a:off x="3478390" y="3959629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F89271C9-CED8-D357-932A-AFCDC853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90" y="3959629"/>
                <a:ext cx="234039" cy="276999"/>
              </a:xfrm>
              <a:prstGeom prst="rect">
                <a:avLst/>
              </a:prstGeom>
              <a:blipFill>
                <a:blip r:embed="rId20"/>
                <a:stretch>
                  <a:fillRect l="-21053" r="-10526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2F1C31C7-00BF-D8A0-46F5-2798F562F14A}"/>
                  </a:ext>
                </a:extLst>
              </p:cNvPr>
              <p:cNvSpPr txBox="1"/>
              <p:nvPr/>
            </p:nvSpPr>
            <p:spPr>
              <a:xfrm>
                <a:off x="3471667" y="4876366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2F1C31C7-00BF-D8A0-46F5-2798F562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667" y="4876366"/>
                <a:ext cx="234039" cy="276999"/>
              </a:xfrm>
              <a:prstGeom prst="rect">
                <a:avLst/>
              </a:prstGeom>
              <a:blipFill>
                <a:blip r:embed="rId21"/>
                <a:stretch>
                  <a:fillRect l="-21053" r="-15789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58BBBEF8-FAB8-DF4F-D61E-B681C70CF79C}"/>
                  </a:ext>
                </a:extLst>
              </p:cNvPr>
              <p:cNvSpPr txBox="1"/>
              <p:nvPr/>
            </p:nvSpPr>
            <p:spPr>
              <a:xfrm>
                <a:off x="3784198" y="3097554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58BBBEF8-FAB8-DF4F-D61E-B681C70C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198" y="3097554"/>
                <a:ext cx="234039" cy="276999"/>
              </a:xfrm>
              <a:prstGeom prst="rect">
                <a:avLst/>
              </a:prstGeom>
              <a:blipFill>
                <a:blip r:embed="rId22"/>
                <a:stretch>
                  <a:fillRect l="-26316" r="-15789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BB19F16E-9B24-8815-C2A7-9CBC8287C7FA}"/>
                  </a:ext>
                </a:extLst>
              </p:cNvPr>
              <p:cNvSpPr txBox="1"/>
              <p:nvPr/>
            </p:nvSpPr>
            <p:spPr>
              <a:xfrm>
                <a:off x="3835525" y="3987514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BB19F16E-9B24-8815-C2A7-9CBC8287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25" y="3987514"/>
                <a:ext cx="234039" cy="276999"/>
              </a:xfrm>
              <a:prstGeom prst="rect">
                <a:avLst/>
              </a:prstGeom>
              <a:blipFill>
                <a:blip r:embed="rId23"/>
                <a:stretch>
                  <a:fillRect l="-20000" r="-15000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DB4E543C-DA0B-527C-3001-FAFD3A9B832E}"/>
                  </a:ext>
                </a:extLst>
              </p:cNvPr>
              <p:cNvSpPr txBox="1"/>
              <p:nvPr/>
            </p:nvSpPr>
            <p:spPr>
              <a:xfrm>
                <a:off x="3807127" y="4876366"/>
                <a:ext cx="234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DB4E543C-DA0B-527C-3001-FAFD3A9B8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27" y="4876366"/>
                <a:ext cx="234039" cy="276999"/>
              </a:xfrm>
              <a:prstGeom prst="rect">
                <a:avLst/>
              </a:prstGeom>
              <a:blipFill>
                <a:blip r:embed="rId24"/>
                <a:stretch>
                  <a:fillRect l="-26316" r="-15789" b="-1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853A70BF-114B-B2F9-F597-DB93F2EFDB7C}"/>
                  </a:ext>
                </a:extLst>
              </p:cNvPr>
              <p:cNvSpPr txBox="1"/>
              <p:nvPr/>
            </p:nvSpPr>
            <p:spPr>
              <a:xfrm>
                <a:off x="6667601" y="3975284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853A70BF-114B-B2F9-F597-DB93F2EF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1" y="3975284"/>
                <a:ext cx="4611387" cy="276999"/>
              </a:xfrm>
              <a:prstGeom prst="rect">
                <a:avLst/>
              </a:prstGeom>
              <a:blipFill>
                <a:blip r:embed="rId25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142410CE-0925-223C-28E2-915CB8E92D7B}"/>
                  </a:ext>
                </a:extLst>
              </p:cNvPr>
              <p:cNvSpPr txBox="1"/>
              <p:nvPr/>
            </p:nvSpPr>
            <p:spPr>
              <a:xfrm>
                <a:off x="6667600" y="4845100"/>
                <a:ext cx="46113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𝑇𝐿𝑈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h𝑤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142410CE-0925-223C-28E2-915CB8E92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00" y="4845100"/>
                <a:ext cx="4611387" cy="276999"/>
              </a:xfrm>
              <a:prstGeom prst="rect">
                <a:avLst/>
              </a:prstGeom>
              <a:blipFill>
                <a:blip r:embed="rId26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F8EA51D5-BE54-BCD7-0EA5-73CD79254511}"/>
              </a:ext>
            </a:extLst>
          </p:cNvPr>
          <p:cNvSpPr txBox="1"/>
          <p:nvPr/>
        </p:nvSpPr>
        <p:spPr>
          <a:xfrm>
            <a:off x="1182776" y="2569050"/>
            <a:ext cx="121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Input </a:t>
            </a:r>
            <a:r>
              <a:rPr lang="es-ES_tradnl" b="1" i="1" dirty="0" err="1"/>
              <a:t>layer</a:t>
            </a:r>
            <a:endParaRPr lang="es-ES_tradnl" b="1" i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BB3CA0-CBE9-FC32-83BA-2CF18BDC2FED}"/>
              </a:ext>
            </a:extLst>
          </p:cNvPr>
          <p:cNvSpPr txBox="1"/>
          <p:nvPr/>
        </p:nvSpPr>
        <p:spPr>
          <a:xfrm>
            <a:off x="2946920" y="2569050"/>
            <a:ext cx="148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Output </a:t>
            </a:r>
            <a:r>
              <a:rPr lang="es-ES_tradnl" b="1" i="1" dirty="0" err="1"/>
              <a:t>layer</a:t>
            </a:r>
            <a:endParaRPr lang="es-ES_tradnl" b="1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13D85C2-663B-978A-9D8C-4F2721F422FB}"/>
              </a:ext>
            </a:extLst>
          </p:cNvPr>
          <p:cNvSpPr txBox="1"/>
          <p:nvPr/>
        </p:nvSpPr>
        <p:spPr>
          <a:xfrm>
            <a:off x="4983559" y="2578391"/>
            <a:ext cx="121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outputs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C382D-1725-0360-92A3-54E7AE97418E}"/>
              </a:ext>
            </a:extLst>
          </p:cNvPr>
          <p:cNvSpPr txBox="1"/>
          <p:nvPr/>
        </p:nvSpPr>
        <p:spPr>
          <a:xfrm>
            <a:off x="744925" y="5957753"/>
            <a:ext cx="1041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C00000"/>
                </a:solidFill>
              </a:rPr>
              <a:t>Este tipo de algoritmo puede ser usado para clasificar problemas con salidas binarias, como por ejemplo la clasificación de correos electrónicos auténticos y correos de tipo SPAM. 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B887A32-56E8-DBBF-F969-FE5732498955}"/>
              </a:ext>
            </a:extLst>
          </p:cNvPr>
          <p:cNvSpPr/>
          <p:nvPr/>
        </p:nvSpPr>
        <p:spPr>
          <a:xfrm>
            <a:off x="6096000" y="2867375"/>
            <a:ext cx="616829" cy="2657144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6049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Ejemplo de uso del 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60" y="1112108"/>
            <a:ext cx="11126547" cy="1540153"/>
          </a:xfrm>
        </p:spPr>
        <p:txBody>
          <a:bodyPr>
            <a:normAutofit fontScale="85000" lnSpcReduction="10000"/>
          </a:bodyPr>
          <a:lstStyle/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Imaginemos que queremos identificar cuáles de los correos electrónicos de una bandeja de entrada son auténticos y cuales son de tipo SPAM.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Lo primero que necesitamos es un conjunto de datos de experiencia pasada, que contengan correos electrónicos de los cuales se hayan clasificado como auténticos o SPAM de acuerdo a cierto tipo de características como el </a:t>
            </a:r>
            <a:r>
              <a:rPr lang="es-ES" sz="2400" b="1" i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número de errores ortográficos 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 </a:t>
            </a:r>
            <a:r>
              <a:rPr lang="es-ES" sz="2400" b="1" i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etiquetas </a:t>
            </a:r>
            <a:r>
              <a:rPr lang="es-ES" sz="2400" b="1" i="1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html</a:t>
            </a:r>
            <a:r>
              <a:rPr lang="es-ES" sz="2400" b="1" i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que contienen.</a:t>
            </a:r>
            <a:endParaRPr lang="es-ES_tradnl" sz="24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2C53312C-9FBA-E06C-FA21-E36CA38E52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776" r="10810" b="29976"/>
          <a:stretch/>
        </p:blipFill>
        <p:spPr>
          <a:xfrm>
            <a:off x="390260" y="2855941"/>
            <a:ext cx="5029738" cy="2889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E49FEDAF-E3F4-3C5B-E6CB-AFB0B2251B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8264" y="2997724"/>
              <a:ext cx="3953711" cy="2581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5829">
                      <a:extLst>
                        <a:ext uri="{9D8B030D-6E8A-4147-A177-3AD203B41FA5}">
                          <a16:colId xmlns:a16="http://schemas.microsoft.com/office/drawing/2014/main" val="3893492285"/>
                        </a:ext>
                      </a:extLst>
                    </a:gridCol>
                    <a:gridCol w="1247734">
                      <a:extLst>
                        <a:ext uri="{9D8B030D-6E8A-4147-A177-3AD203B41FA5}">
                          <a16:colId xmlns:a16="http://schemas.microsoft.com/office/drawing/2014/main" val="75526365"/>
                        </a:ext>
                      </a:extLst>
                    </a:gridCol>
                    <a:gridCol w="927836">
                      <a:extLst>
                        <a:ext uri="{9D8B030D-6E8A-4147-A177-3AD203B41FA5}">
                          <a16:colId xmlns:a16="http://schemas.microsoft.com/office/drawing/2014/main" val="3238843671"/>
                        </a:ext>
                      </a:extLst>
                    </a:gridCol>
                    <a:gridCol w="962312">
                      <a:extLst>
                        <a:ext uri="{9D8B030D-6E8A-4147-A177-3AD203B41FA5}">
                          <a16:colId xmlns:a16="http://schemas.microsoft.com/office/drawing/2014/main" val="146838085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Email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dirty="0"/>
                        </a:p>
                        <a:p>
                          <a:pPr algn="ctr"/>
                          <a:r>
                            <a:rPr lang="es-ES_tradnl" sz="1200" dirty="0"/>
                            <a:t># faltas de ortografía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dirty="0"/>
                        </a:p>
                        <a:p>
                          <a:pPr algn="ctr"/>
                          <a:r>
                            <a:rPr lang="es-ES_tradnl" sz="1200" dirty="0"/>
                            <a:t># etiquetas </a:t>
                          </a:r>
                          <a:r>
                            <a:rPr lang="es-ES_tradnl" sz="1200" dirty="0" err="1"/>
                            <a:t>html</a:t>
                          </a:r>
                          <a:endParaRPr lang="es-ES_trad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s-ES_tradnl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s-ES_tradnl" sz="1200" dirty="0"/>
                            <a:t>¿Es SPAM?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7049759"/>
                      </a:ext>
                    </a:extLst>
                  </a:tr>
                  <a:tr h="2583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508759"/>
                      </a:ext>
                    </a:extLst>
                  </a:tr>
                  <a:tr h="2387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8442989"/>
                      </a:ext>
                    </a:extLst>
                  </a:tr>
                  <a:tr h="288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2942880"/>
                      </a:ext>
                    </a:extLst>
                  </a:tr>
                  <a:tr h="277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966617"/>
                      </a:ext>
                    </a:extLst>
                  </a:tr>
                  <a:tr h="2777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1455615"/>
                      </a:ext>
                    </a:extLst>
                  </a:tr>
                  <a:tr h="2662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006313"/>
                      </a:ext>
                    </a:extLst>
                  </a:tr>
                  <a:tr h="2696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 err="1"/>
                            <a:t>e_m</a:t>
                          </a:r>
                          <a:endParaRPr lang="es-ES_tradnl" sz="1200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0|1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777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E49FEDAF-E3F4-3C5B-E6CB-AFB0B2251B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8264" y="2997724"/>
              <a:ext cx="3953711" cy="2581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5829">
                      <a:extLst>
                        <a:ext uri="{9D8B030D-6E8A-4147-A177-3AD203B41FA5}">
                          <a16:colId xmlns:a16="http://schemas.microsoft.com/office/drawing/2014/main" val="3893492285"/>
                        </a:ext>
                      </a:extLst>
                    </a:gridCol>
                    <a:gridCol w="1247734">
                      <a:extLst>
                        <a:ext uri="{9D8B030D-6E8A-4147-A177-3AD203B41FA5}">
                          <a16:colId xmlns:a16="http://schemas.microsoft.com/office/drawing/2014/main" val="75526365"/>
                        </a:ext>
                      </a:extLst>
                    </a:gridCol>
                    <a:gridCol w="927836">
                      <a:extLst>
                        <a:ext uri="{9D8B030D-6E8A-4147-A177-3AD203B41FA5}">
                          <a16:colId xmlns:a16="http://schemas.microsoft.com/office/drawing/2014/main" val="3238843671"/>
                        </a:ext>
                      </a:extLst>
                    </a:gridCol>
                    <a:gridCol w="962312">
                      <a:extLst>
                        <a:ext uri="{9D8B030D-6E8A-4147-A177-3AD203B41FA5}">
                          <a16:colId xmlns:a16="http://schemas.microsoft.com/office/drawing/2014/main" val="146838085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Email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65657" t="-1961" r="-152525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224658" t="-1961" r="-106849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311842" t="-1961" r="-2632" b="-3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70497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5087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8442989"/>
                      </a:ext>
                    </a:extLst>
                  </a:tr>
                  <a:tr h="288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2942880"/>
                      </a:ext>
                    </a:extLst>
                  </a:tr>
                  <a:tr h="277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966617"/>
                      </a:ext>
                    </a:extLst>
                  </a:tr>
                  <a:tr h="2777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145561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00631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 err="1"/>
                            <a:t>e_m</a:t>
                          </a:r>
                          <a:endParaRPr lang="es-ES_tradnl" sz="1200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0|1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7771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81676492-A891-29B4-8297-40FB2D9D46A3}"/>
              </a:ext>
            </a:extLst>
          </p:cNvPr>
          <p:cNvSpPr txBox="1"/>
          <p:nvPr/>
        </p:nvSpPr>
        <p:spPr>
          <a:xfrm>
            <a:off x="9661286" y="3429000"/>
            <a:ext cx="2530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Siendo: </a:t>
            </a:r>
          </a:p>
          <a:p>
            <a:r>
              <a:rPr lang="es-ES_tradnl" b="1" i="1" dirty="0"/>
              <a:t>m</a:t>
            </a:r>
            <a:r>
              <a:rPr lang="es-ES_tradnl" i="1" dirty="0"/>
              <a:t> = el número de ejemplos del </a:t>
            </a:r>
            <a:r>
              <a:rPr lang="es-ES_tradnl" i="1" dirty="0">
                <a:solidFill>
                  <a:schemeClr val="accent2"/>
                </a:solidFill>
              </a:rPr>
              <a:t>conjunto de datos de entrenamiento</a:t>
            </a:r>
          </a:p>
          <a:p>
            <a:r>
              <a:rPr lang="es-ES_tradnl" b="1" i="1" dirty="0"/>
              <a:t>n</a:t>
            </a:r>
            <a:r>
              <a:rPr lang="es-ES_tradnl" i="1" dirty="0"/>
              <a:t> = número de faltas de ortografía o de etiquetas </a:t>
            </a:r>
            <a:r>
              <a:rPr lang="es-ES_tradnl" i="1" dirty="0" err="1"/>
              <a:t>html</a:t>
            </a:r>
            <a:r>
              <a:rPr lang="es-ES_tradnl" i="1" dirty="0"/>
              <a:t>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CE8ABF1-CCD3-4ECB-3E61-15B3EC4E480E}"/>
              </a:ext>
            </a:extLst>
          </p:cNvPr>
          <p:cNvSpPr txBox="1"/>
          <p:nvPr/>
        </p:nvSpPr>
        <p:spPr>
          <a:xfrm>
            <a:off x="5419998" y="5766530"/>
            <a:ext cx="6553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accent2"/>
                </a:solidFill>
              </a:rPr>
              <a:t>El conjunto de datos de entrenamiento es el conjunto de datos que usará el algoritmo para aprender, es decir,  para encontrar el valor óptimo para los pesos (</a:t>
            </a:r>
            <a:r>
              <a:rPr lang="es-ES_tradnl" b="1" i="1" dirty="0">
                <a:solidFill>
                  <a:schemeClr val="accent2"/>
                </a:solidFill>
              </a:rPr>
              <a:t>w</a:t>
            </a:r>
            <a:r>
              <a:rPr lang="es-ES_tradnl" dirty="0">
                <a:solidFill>
                  <a:schemeClr val="accent2"/>
                </a:solidFill>
              </a:rPr>
              <a:t>) y el término </a:t>
            </a:r>
            <a:r>
              <a:rPr lang="es-ES_tradnl" dirty="0" err="1">
                <a:solidFill>
                  <a:schemeClr val="accent2"/>
                </a:solidFill>
              </a:rPr>
              <a:t>bias</a:t>
            </a:r>
            <a:r>
              <a:rPr lang="es-ES_tradnl" dirty="0">
                <a:solidFill>
                  <a:schemeClr val="accent2"/>
                </a:solidFill>
              </a:rPr>
              <a:t> (</a:t>
            </a:r>
            <a:r>
              <a:rPr lang="es-ES_tradnl" b="1" i="1" dirty="0">
                <a:solidFill>
                  <a:schemeClr val="accent2"/>
                </a:solidFill>
              </a:rPr>
              <a:t>b</a:t>
            </a:r>
            <a:r>
              <a:rPr lang="es-ES_tradnl" dirty="0">
                <a:solidFill>
                  <a:schemeClr val="accent2"/>
                </a:solidFill>
              </a:rPr>
              <a:t>).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36EEB94-D54A-B673-CEC8-6C24E5278BF7}"/>
              </a:ext>
            </a:extLst>
          </p:cNvPr>
          <p:cNvSpPr txBox="1"/>
          <p:nvPr/>
        </p:nvSpPr>
        <p:spPr>
          <a:xfrm>
            <a:off x="6593616" y="2491329"/>
            <a:ext cx="19321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>
                <a:solidFill>
                  <a:srgbClr val="C00000"/>
                </a:solidFill>
              </a:rPr>
              <a:t>input </a:t>
            </a:r>
            <a:r>
              <a:rPr lang="es-ES_tradnl" b="1" i="1" dirty="0" err="1">
                <a:solidFill>
                  <a:srgbClr val="C00000"/>
                </a:solidFill>
              </a:rPr>
              <a:t>features</a:t>
            </a:r>
            <a:endParaRPr lang="es-ES_tradnl" b="1" i="1" dirty="0">
              <a:solidFill>
                <a:srgbClr val="C00000"/>
              </a:solidFill>
            </a:endParaRPr>
          </a:p>
          <a:p>
            <a:pPr algn="ctr"/>
            <a:r>
              <a:rPr lang="es-ES_tradnl" sz="1200" b="1" i="1" dirty="0">
                <a:solidFill>
                  <a:srgbClr val="C00000"/>
                </a:solidFill>
              </a:rPr>
              <a:t>(características de entrada)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D6FE826-30B6-7E54-3027-C187D01939C9}"/>
              </a:ext>
            </a:extLst>
          </p:cNvPr>
          <p:cNvSpPr txBox="1"/>
          <p:nvPr/>
        </p:nvSpPr>
        <p:spPr>
          <a:xfrm>
            <a:off x="8286685" y="2479338"/>
            <a:ext cx="17825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 err="1">
                <a:solidFill>
                  <a:schemeClr val="accent1"/>
                </a:solidFill>
              </a:rPr>
              <a:t>label</a:t>
            </a:r>
            <a:endParaRPr lang="es-ES_tradnl" b="1" i="1" dirty="0">
              <a:solidFill>
                <a:schemeClr val="accent1"/>
              </a:solidFill>
            </a:endParaRPr>
          </a:p>
          <a:p>
            <a:pPr algn="ctr"/>
            <a:r>
              <a:rPr lang="es-ES_tradnl" sz="1200" b="1" i="1" dirty="0">
                <a:solidFill>
                  <a:schemeClr val="accent1"/>
                </a:solidFill>
              </a:rPr>
              <a:t>(etiqueta)</a:t>
            </a:r>
          </a:p>
        </p:txBody>
      </p:sp>
    </p:spTree>
    <p:extLst>
      <p:ext uri="{BB962C8B-B14F-4D97-AF65-F5344CB8AC3E}">
        <p14:creationId xmlns:p14="http://schemas.microsoft.com/office/powerpoint/2010/main" val="329784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Ejemplo de uso del Perceptrón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A128C-E847-53ED-DE39-79434F709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260" y="1112108"/>
                <a:ext cx="11126547" cy="232888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Ya que el algoritmo se basa en </a:t>
                </a:r>
                <a:r>
                  <a:rPr lang="es-ES" sz="2400" i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aprendizaje supervisado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, va a requerir este conjunto de datos de experiencia pasada en la que se le proporciona un conjunto de ejemplos con la información de </a:t>
                </a:r>
                <a:r>
                  <a:rPr lang="es-ES" sz="2400" i="1" dirty="0">
                    <a:solidFill>
                      <a:srgbClr val="C00000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características de entrada 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y su </a:t>
                </a:r>
                <a:r>
                  <a:rPr lang="es-ES" sz="2400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etiqueta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correspondiente. </a:t>
                </a:r>
              </a:p>
              <a:p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En el proceso de entrenamiento, ajustará los valores de los parámetros (pesos y </a:t>
                </a:r>
                <a:r>
                  <a:rPr lang="es-ES" sz="2400" dirty="0" err="1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bias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), en base a los datos previamente proporcionados. </a:t>
                </a:r>
              </a:p>
              <a:p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Una vez que se obtiene el valor óptimo de los pesos, se puede probar el </a:t>
                </a:r>
                <a:r>
                  <a:rPr lang="es-ES" sz="2400" i="1" dirty="0">
                    <a:solidFill>
                      <a:schemeClr val="accent2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modelo resultante 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con nuevos datos (correos electrónicos que no forman parte del conjunto de entrenamiento), extrayendo únicamente sus características de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E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E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), para que el modelo Perceptrón haga la predicción de si cada correo nuevo es </a:t>
                </a:r>
                <a:r>
                  <a:rPr lang="es-ES" sz="2400" dirty="0">
                    <a:solidFill>
                      <a:schemeClr val="tx2"/>
                    </a:solidFill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SPAM</a:t>
                </a:r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o no.</a:t>
                </a:r>
                <a:endParaRPr lang="es-ES_tradnl" sz="2400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A128C-E847-53ED-DE39-79434F709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260" y="1112108"/>
                <a:ext cx="11126547" cy="2328883"/>
              </a:xfrm>
              <a:blipFill>
                <a:blip r:embed="rId3"/>
                <a:stretch>
                  <a:fillRect l="-456" t="-4891" b="-27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Imagen 27">
            <a:extLst>
              <a:ext uri="{FF2B5EF4-FFF2-40B4-BE49-F238E27FC236}">
                <a16:creationId xmlns:a16="http://schemas.microsoft.com/office/drawing/2014/main" id="{2C53312C-9FBA-E06C-FA21-E36CA38E52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776" r="10810" b="29976"/>
          <a:stretch/>
        </p:blipFill>
        <p:spPr>
          <a:xfrm>
            <a:off x="617361" y="3706243"/>
            <a:ext cx="5029738" cy="2889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E49FEDAF-E3F4-3C5B-E6CB-AFB0B2251B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6196682"/>
                  </p:ext>
                </p:extLst>
              </p:nvPr>
            </p:nvGraphicFramePr>
            <p:xfrm>
              <a:off x="7298794" y="3947386"/>
              <a:ext cx="3953711" cy="2581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5829">
                      <a:extLst>
                        <a:ext uri="{9D8B030D-6E8A-4147-A177-3AD203B41FA5}">
                          <a16:colId xmlns:a16="http://schemas.microsoft.com/office/drawing/2014/main" val="3893492285"/>
                        </a:ext>
                      </a:extLst>
                    </a:gridCol>
                    <a:gridCol w="1247734">
                      <a:extLst>
                        <a:ext uri="{9D8B030D-6E8A-4147-A177-3AD203B41FA5}">
                          <a16:colId xmlns:a16="http://schemas.microsoft.com/office/drawing/2014/main" val="75526365"/>
                        </a:ext>
                      </a:extLst>
                    </a:gridCol>
                    <a:gridCol w="927836">
                      <a:extLst>
                        <a:ext uri="{9D8B030D-6E8A-4147-A177-3AD203B41FA5}">
                          <a16:colId xmlns:a16="http://schemas.microsoft.com/office/drawing/2014/main" val="3238843671"/>
                        </a:ext>
                      </a:extLst>
                    </a:gridCol>
                    <a:gridCol w="962312">
                      <a:extLst>
                        <a:ext uri="{9D8B030D-6E8A-4147-A177-3AD203B41FA5}">
                          <a16:colId xmlns:a16="http://schemas.microsoft.com/office/drawing/2014/main" val="146838085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Email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dirty="0"/>
                        </a:p>
                        <a:p>
                          <a:pPr algn="ctr"/>
                          <a:r>
                            <a:rPr lang="es-ES_tradnl" sz="1200" dirty="0"/>
                            <a:t># faltas de ortografía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1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dirty="0"/>
                        </a:p>
                        <a:p>
                          <a:pPr algn="ctr"/>
                          <a:r>
                            <a:rPr lang="es-ES_tradnl" sz="1200" dirty="0"/>
                            <a:t># etiquetas </a:t>
                          </a:r>
                          <a:r>
                            <a:rPr lang="es-ES_tradnl" sz="1200" dirty="0" err="1"/>
                            <a:t>html</a:t>
                          </a:r>
                          <a:endParaRPr lang="es-ES_tradn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s-ES_tradnl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s-ES_tradnl" sz="1200" dirty="0"/>
                            <a:t>¿Es SPAM?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7049759"/>
                      </a:ext>
                    </a:extLst>
                  </a:tr>
                  <a:tr h="2583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508759"/>
                      </a:ext>
                    </a:extLst>
                  </a:tr>
                  <a:tr h="2387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8442989"/>
                      </a:ext>
                    </a:extLst>
                  </a:tr>
                  <a:tr h="288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2942880"/>
                      </a:ext>
                    </a:extLst>
                  </a:tr>
                  <a:tr h="277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966617"/>
                      </a:ext>
                    </a:extLst>
                  </a:tr>
                  <a:tr h="2777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1455615"/>
                      </a:ext>
                    </a:extLst>
                  </a:tr>
                  <a:tr h="2662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006313"/>
                      </a:ext>
                    </a:extLst>
                  </a:tr>
                  <a:tr h="2696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 err="1"/>
                            <a:t>e_m</a:t>
                          </a:r>
                          <a:endParaRPr lang="es-ES_tradnl" sz="1200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0|1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7771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E49FEDAF-E3F4-3C5B-E6CB-AFB0B2251B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6196682"/>
                  </p:ext>
                </p:extLst>
              </p:nvPr>
            </p:nvGraphicFramePr>
            <p:xfrm>
              <a:off x="7298794" y="3947386"/>
              <a:ext cx="3953711" cy="2581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5829">
                      <a:extLst>
                        <a:ext uri="{9D8B030D-6E8A-4147-A177-3AD203B41FA5}">
                          <a16:colId xmlns:a16="http://schemas.microsoft.com/office/drawing/2014/main" val="3893492285"/>
                        </a:ext>
                      </a:extLst>
                    </a:gridCol>
                    <a:gridCol w="1247734">
                      <a:extLst>
                        <a:ext uri="{9D8B030D-6E8A-4147-A177-3AD203B41FA5}">
                          <a16:colId xmlns:a16="http://schemas.microsoft.com/office/drawing/2014/main" val="75526365"/>
                        </a:ext>
                      </a:extLst>
                    </a:gridCol>
                    <a:gridCol w="927836">
                      <a:extLst>
                        <a:ext uri="{9D8B030D-6E8A-4147-A177-3AD203B41FA5}">
                          <a16:colId xmlns:a16="http://schemas.microsoft.com/office/drawing/2014/main" val="3238843671"/>
                        </a:ext>
                      </a:extLst>
                    </a:gridCol>
                    <a:gridCol w="962312">
                      <a:extLst>
                        <a:ext uri="{9D8B030D-6E8A-4147-A177-3AD203B41FA5}">
                          <a16:colId xmlns:a16="http://schemas.microsoft.com/office/drawing/2014/main" val="146838085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Email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66327" r="-155102" b="-30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220270" r="-105405" b="-30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5"/>
                          <a:stretch>
                            <a:fillRect l="-311842" r="-2632" b="-307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70497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5087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8442989"/>
                      </a:ext>
                    </a:extLst>
                  </a:tr>
                  <a:tr h="2884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2942880"/>
                      </a:ext>
                    </a:extLst>
                  </a:tr>
                  <a:tr h="2777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966617"/>
                      </a:ext>
                    </a:extLst>
                  </a:tr>
                  <a:tr h="2777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e_05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145561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00631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i="1" dirty="0" err="1"/>
                            <a:t>e_m</a:t>
                          </a:r>
                          <a:endParaRPr lang="es-ES_tradnl" sz="1200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dirty="0"/>
                            <a:t>0|1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7771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CuadroTexto 32">
            <a:extLst>
              <a:ext uri="{FF2B5EF4-FFF2-40B4-BE49-F238E27FC236}">
                <a16:creationId xmlns:a16="http://schemas.microsoft.com/office/drawing/2014/main" id="{436EEB94-D54A-B673-CEC8-6C24E5278BF7}"/>
              </a:ext>
            </a:extLst>
          </p:cNvPr>
          <p:cNvSpPr txBox="1"/>
          <p:nvPr/>
        </p:nvSpPr>
        <p:spPr>
          <a:xfrm>
            <a:off x="8164146" y="3440991"/>
            <a:ext cx="19321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>
                <a:solidFill>
                  <a:srgbClr val="C00000"/>
                </a:solidFill>
              </a:rPr>
              <a:t>input </a:t>
            </a:r>
            <a:r>
              <a:rPr lang="es-ES_tradnl" b="1" i="1" dirty="0" err="1">
                <a:solidFill>
                  <a:srgbClr val="C00000"/>
                </a:solidFill>
              </a:rPr>
              <a:t>features</a:t>
            </a:r>
            <a:endParaRPr lang="es-ES_tradnl" b="1" i="1" dirty="0">
              <a:solidFill>
                <a:srgbClr val="C00000"/>
              </a:solidFill>
            </a:endParaRPr>
          </a:p>
          <a:p>
            <a:pPr algn="ctr"/>
            <a:r>
              <a:rPr lang="es-ES_tradnl" sz="1200" b="1" i="1" dirty="0">
                <a:solidFill>
                  <a:srgbClr val="C00000"/>
                </a:solidFill>
              </a:rPr>
              <a:t>(características de entrada)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D6FE826-30B6-7E54-3027-C187D01939C9}"/>
              </a:ext>
            </a:extLst>
          </p:cNvPr>
          <p:cNvSpPr txBox="1"/>
          <p:nvPr/>
        </p:nvSpPr>
        <p:spPr>
          <a:xfrm>
            <a:off x="9857215" y="3429000"/>
            <a:ext cx="17825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 err="1">
                <a:solidFill>
                  <a:schemeClr val="accent1"/>
                </a:solidFill>
              </a:rPr>
              <a:t>label</a:t>
            </a:r>
            <a:endParaRPr lang="es-ES_tradnl" b="1" i="1" dirty="0">
              <a:solidFill>
                <a:schemeClr val="accent1"/>
              </a:solidFill>
            </a:endParaRPr>
          </a:p>
          <a:p>
            <a:pPr algn="ctr"/>
            <a:r>
              <a:rPr lang="es-ES_tradnl" sz="1200" b="1" i="1" dirty="0">
                <a:solidFill>
                  <a:schemeClr val="accent1"/>
                </a:solidFill>
              </a:rPr>
              <a:t>(etiqueta)</a:t>
            </a:r>
          </a:p>
        </p:txBody>
      </p:sp>
    </p:spTree>
    <p:extLst>
      <p:ext uri="{BB962C8B-B14F-4D97-AF65-F5344CB8AC3E}">
        <p14:creationId xmlns:p14="http://schemas.microsoft.com/office/powerpoint/2010/main" val="201739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Ejemplo de uso del Perceptrón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A128C-E847-53ED-DE39-79434F709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434" y="1806067"/>
                <a:ext cx="5705740" cy="4686808"/>
              </a:xfrm>
            </p:spPr>
            <p:txBody>
              <a:bodyPr>
                <a:normAutofit/>
              </a:bodyPr>
              <a:lstStyle/>
              <a:p>
                <a:r>
                  <a:rPr lang="es-ES" sz="24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Tomando en cuenta cada uno de los valores (0 | 1) que se tiene a la salida de cada neurona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s-E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_tradnl" sz="2400" dirty="0"/>
                  <a:t>), por ejemplo:</a:t>
                </a:r>
              </a:p>
              <a:p>
                <a:pPr marL="0" indent="0">
                  <a:buNone/>
                </a:pPr>
                <a:r>
                  <a:rPr lang="es-ES_tradnl" sz="2400" dirty="0"/>
                  <a:t>	</a:t>
                </a:r>
                <a:r>
                  <a:rPr lang="es-ES" sz="2400" dirty="0">
                    <a:solidFill>
                      <a:schemeClr val="accent6"/>
                    </a:solidFill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s-ES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s-ES_tradnl" sz="2400" dirty="0">
                    <a:solidFill>
                      <a:schemeClr val="accent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s-ES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s-ES_tradnl" sz="2400" dirty="0">
                    <a:solidFill>
                      <a:schemeClr val="accent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40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lang="es-ES" sz="2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s-ES" sz="2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s-ES" sz="2400" b="0" dirty="0">
                    <a:solidFill>
                      <a:schemeClr val="accent6"/>
                    </a:solidFill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endParaRPr lang="es-ES" sz="2400" b="0" dirty="0"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r>
                  <a:rPr lang="es-ES" sz="2400" dirty="0">
                    <a:ea typeface="DengXian" panose="02010600030101010101" pitchFamily="2" charset="-122"/>
                    <a:cs typeface="Arial" panose="020B0604020202020204" pitchFamily="34" charset="0"/>
                  </a:rPr>
                  <a:t>se puede clasificar un sistema de clasificación donde el número que más se repita será el que se tome como resultado final: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2400" b="0" i="1" smtClean="0">
                            <a:solidFill>
                              <a:schemeClr val="accent6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ES" sz="2400" b="0" i="1" smtClean="0">
                            <a:solidFill>
                              <a:schemeClr val="accent6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  <m:r>
                      <a:rPr lang="es-ES" sz="2400" b="0" i="1" smtClean="0">
                        <a:solidFill>
                          <a:schemeClr val="accent6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s-ES" sz="2400" dirty="0">
                    <a:ea typeface="DengXian" panose="02010600030101010101" pitchFamily="2" charset="-122"/>
                    <a:cs typeface="Arial" panose="020B0604020202020204" pitchFamily="34" charset="0"/>
                  </a:rPr>
                  <a:t>, lo cual indicaría que el correo </a:t>
                </a:r>
                <a:r>
                  <a:rPr lang="es-ES" sz="2400" dirty="0">
                    <a:solidFill>
                      <a:schemeClr val="tx2"/>
                    </a:solidFill>
                    <a:highlight>
                      <a:srgbClr val="FFFF00"/>
                    </a:highlight>
                    <a:ea typeface="DengXian" panose="02010600030101010101" pitchFamily="2" charset="-122"/>
                    <a:cs typeface="Arial" panose="020B0604020202020204" pitchFamily="34" charset="0"/>
                  </a:rPr>
                  <a:t>no es SPAM</a:t>
                </a:r>
                <a:r>
                  <a:rPr lang="es-ES" sz="2400" dirty="0">
                    <a:ea typeface="DengXian" panose="02010600030101010101" pitchFamily="2" charset="-122"/>
                    <a:cs typeface="Arial" panose="020B0604020202020204" pitchFamily="34" charset="0"/>
                  </a:rPr>
                  <a:t>.</a:t>
                </a:r>
              </a:p>
              <a:p>
                <a:endParaRPr lang="es-ES" sz="2400" b="0" dirty="0"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A128C-E847-53ED-DE39-79434F709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434" y="1806067"/>
                <a:ext cx="5705740" cy="4686808"/>
              </a:xfrm>
              <a:blipFill>
                <a:blip r:embed="rId3"/>
                <a:stretch>
                  <a:fillRect l="-1330" t="-1622" r="-13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Imagen 27">
            <a:extLst>
              <a:ext uri="{FF2B5EF4-FFF2-40B4-BE49-F238E27FC236}">
                <a16:creationId xmlns:a16="http://schemas.microsoft.com/office/drawing/2014/main" id="{2C53312C-9FBA-E06C-FA21-E36CA38E52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776" r="10810" b="29976"/>
          <a:stretch/>
        </p:blipFill>
        <p:spPr>
          <a:xfrm>
            <a:off x="6096000" y="1707913"/>
            <a:ext cx="5990840" cy="344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1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Ejemplo de uso del Perceptrón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25" y="2030246"/>
            <a:ext cx="5048947" cy="3437681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Otro tipo de clasificación que se puede realizar con un perceptrón con varias </a:t>
            </a:r>
            <a:r>
              <a:rPr lang="es-ES" sz="2400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TLUs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en la capa de salida es la denominada </a:t>
            </a:r>
            <a:r>
              <a:rPr lang="es-ES" sz="2400" i="1" dirty="0">
                <a:solidFill>
                  <a:schemeClr val="accent2"/>
                </a:solidFill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multiclase</a:t>
            </a:r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r>
              <a:rPr lang="es-ES" sz="2400" dirty="0">
                <a:ea typeface="DengXian" panose="02010600030101010101" pitchFamily="2" charset="-122"/>
                <a:cs typeface="Arial" panose="020B0604020202020204" pitchFamily="34" charset="0"/>
              </a:rPr>
              <a:t>En la clasificación multiclase se pueden tener mas de dos categorías de salida,  en el caso de este perceptrón, se pueden tener ocho categorías de salida. </a:t>
            </a:r>
          </a:p>
          <a:p>
            <a:endParaRPr lang="es-ES" sz="2400" b="0" dirty="0"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2C53312C-9FBA-E06C-FA21-E36CA38E52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776" r="10810" b="29976"/>
          <a:stretch/>
        </p:blipFill>
        <p:spPr>
          <a:xfrm>
            <a:off x="6296629" y="722616"/>
            <a:ext cx="4551661" cy="26152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EE81D52-5F66-B1FA-5A06-D7A1628AE4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573281"/>
                  </p:ext>
                </p:extLst>
              </p:nvPr>
            </p:nvGraphicFramePr>
            <p:xfrm>
              <a:off x="6648620" y="3443468"/>
              <a:ext cx="4123142" cy="2762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664">
                      <a:extLst>
                        <a:ext uri="{9D8B030D-6E8A-4147-A177-3AD203B41FA5}">
                          <a16:colId xmlns:a16="http://schemas.microsoft.com/office/drawing/2014/main" val="2508688851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3335657818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4051025011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3428761065"/>
                        </a:ext>
                      </a:extLst>
                    </a:gridCol>
                  </a:tblGrid>
                  <a:tr h="2863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sz="14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y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4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sz="14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y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4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1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sz="14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Arial" panose="020B0604020202020204" pitchFamily="34" charset="0"/>
                                          </a:rPr>
                                          <m:t>y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4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/>
                            <a:t>categoría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782574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619417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9154941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275907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112868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9221131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5769674"/>
                      </a:ext>
                    </a:extLst>
                  </a:tr>
                  <a:tr h="2863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8416995"/>
                      </a:ext>
                    </a:extLst>
                  </a:tr>
                  <a:tr h="324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7891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EE81D52-5F66-B1FA-5A06-D7A1628AE4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573281"/>
                  </p:ext>
                </p:extLst>
              </p:nvPr>
            </p:nvGraphicFramePr>
            <p:xfrm>
              <a:off x="6648620" y="3443468"/>
              <a:ext cx="4123142" cy="27627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664">
                      <a:extLst>
                        <a:ext uri="{9D8B030D-6E8A-4147-A177-3AD203B41FA5}">
                          <a16:colId xmlns:a16="http://schemas.microsoft.com/office/drawing/2014/main" val="2508688851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3335657818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4051025011"/>
                        </a:ext>
                      </a:extLst>
                    </a:gridCol>
                    <a:gridCol w="1074826">
                      <a:extLst>
                        <a:ext uri="{9D8B030D-6E8A-4147-A177-3AD203B41FA5}">
                          <a16:colId xmlns:a16="http://schemas.microsoft.com/office/drawing/2014/main" val="342876106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4167" r="-361972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84706" t="-4167" r="-202353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184706" t="-4167" r="-102353" b="-8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/>
                            <a:t>categoría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7825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06194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915494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2759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21128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922113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57696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8416995"/>
                      </a:ext>
                    </a:extLst>
                  </a:tr>
                  <a:tr h="3243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dirty="0">
                              <a:solidFill>
                                <a:schemeClr val="accent1"/>
                              </a:solidFill>
                            </a:rPr>
                            <a:t>cat_08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7891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125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60" y="1112108"/>
            <a:ext cx="9471495" cy="522873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400" dirty="0"/>
              <a:t>Realizar la práctica de Implementación de visualización del límite de decisión del Perceptrón contenida en el cuadernillo de </a:t>
            </a:r>
            <a:r>
              <a:rPr lang="es-ES_tradnl" sz="2400" i="1" dirty="0" err="1"/>
              <a:t>Jupyter</a:t>
            </a:r>
            <a:r>
              <a:rPr lang="es-ES_tradnl" sz="2400" dirty="0"/>
              <a:t> que se encuentra en el archivo </a:t>
            </a:r>
            <a:r>
              <a:rPr lang="es-ES_tradnl" sz="2400" b="1" i="1" dirty="0" err="1"/>
              <a:t>Límite_Decisión_perceptrón.pdf</a:t>
            </a:r>
            <a:r>
              <a:rPr lang="es-ES_tradnl" sz="2400" b="1" i="1" dirty="0"/>
              <a:t>  </a:t>
            </a:r>
            <a:r>
              <a:rPr lang="es-ES_tradnl" sz="2400" dirty="0"/>
              <a:t>que se encuentra en el área de materiales.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400" dirty="0"/>
              <a:t>Realice un reporte de ejecución, donde integre las capturas de pantalla de la ejecución y la conclusión a la que llega después de probar el modelo.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400"/>
              <a:t>Suba </a:t>
            </a:r>
            <a:r>
              <a:rPr lang="es-ES_tradnl" sz="2400" dirty="0"/>
              <a:t>el documento en formato PDF y entréguelo en la actividad de portafolio correspondiente.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09E79D-ADB1-0C52-1F49-D478149697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 b="20669"/>
          <a:stretch/>
        </p:blipFill>
        <p:spPr>
          <a:xfrm>
            <a:off x="0" y="9"/>
            <a:ext cx="12188951" cy="6857991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744980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C759A26DDD95F42AD7B6E096F232C9E" ma:contentTypeVersion="10" ma:contentTypeDescription="Crear nuevo documento." ma:contentTypeScope="" ma:versionID="7a9c97f319bfb09e09903bbfd18e5f56">
  <xsd:schema xmlns:xsd="http://www.w3.org/2001/XMLSchema" xmlns:xs="http://www.w3.org/2001/XMLSchema" xmlns:p="http://schemas.microsoft.com/office/2006/metadata/properties" xmlns:ns2="8b7dc593-f8dc-4a12-bdf3-9aa634159da0" targetNamespace="http://schemas.microsoft.com/office/2006/metadata/properties" ma:root="true" ma:fieldsID="6c9a2b6e2e65448b0d87fc0fd6d1e73f" ns2:_="">
    <xsd:import namespace="8b7dc593-f8dc-4a12-bdf3-9aa634159d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7dc593-f8dc-4a12-bdf3-9aa634159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b653b1c0-f410-437d-8ee7-1cf68b209f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7dc593-f8dc-4a12-bdf3-9aa634159d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A82969-7E1A-435B-A653-8D9138061E96}"/>
</file>

<file path=customXml/itemProps2.xml><?xml version="1.0" encoding="utf-8"?>
<ds:datastoreItem xmlns:ds="http://schemas.openxmlformats.org/officeDocument/2006/customXml" ds:itemID="{EE2FDB00-7ECB-42DE-84D1-D4490EA153F0}"/>
</file>

<file path=customXml/itemProps3.xml><?xml version="1.0" encoding="utf-8"?>
<ds:datastoreItem xmlns:ds="http://schemas.openxmlformats.org/officeDocument/2006/customXml" ds:itemID="{3DE1C18F-AA30-4BBB-B4D1-C2B9672CF670}"/>
</file>

<file path=docProps/app.xml><?xml version="1.0" encoding="utf-8"?>
<Properties xmlns="http://schemas.openxmlformats.org/officeDocument/2006/extended-properties" xmlns:vt="http://schemas.openxmlformats.org/officeDocument/2006/docPropsVTypes">
  <TotalTime>14364</TotalTime>
  <Words>1440</Words>
  <Application>Microsoft Macintosh PowerPoint</Application>
  <PresentationFormat>Panorámica</PresentationFormat>
  <Paragraphs>258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Symbol</vt:lpstr>
      <vt:lpstr>Tema de Office</vt:lpstr>
      <vt:lpstr>Redes Neuronales Artificiales Perceptrón</vt:lpstr>
      <vt:lpstr>Conceptos básicos del Perceptrón</vt:lpstr>
      <vt:lpstr>Neurona M-P VS. Perceptrón</vt:lpstr>
      <vt:lpstr>Threshold Logic Unit (TLU)</vt:lpstr>
      <vt:lpstr>Perceptrón</vt:lpstr>
      <vt:lpstr>Perceptrón</vt:lpstr>
      <vt:lpstr>Ejemplo de uso del Perceptrón</vt:lpstr>
      <vt:lpstr>Ejemplo de uso del Perceptrón</vt:lpstr>
      <vt:lpstr>Ejemplo de uso del Perceptrón</vt:lpstr>
      <vt:lpstr>Ejemplo de uso del Perceptrón</vt:lpstr>
      <vt:lpstr>Actividad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</dc:title>
  <dc:creator>Cuauhtemoc Hidalgo Cortes</dc:creator>
  <cp:lastModifiedBy>Cuauhtemoc Hidalgo Cortes</cp:lastModifiedBy>
  <cp:revision>33</cp:revision>
  <dcterms:created xsi:type="dcterms:W3CDTF">2023-10-02T17:39:02Z</dcterms:created>
  <dcterms:modified xsi:type="dcterms:W3CDTF">2024-06-24T20:26:56Z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0x010100AC759A26DDD95F42AD7B6E096F232C9E</vt:lpwstr>
  </property>
</Properties>
</file>