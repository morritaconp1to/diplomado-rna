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67" r:id="rId4"/>
    <p:sldId id="258" r:id="rId5"/>
    <p:sldId id="268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80136"/>
  </p:normalViewPr>
  <p:slideViewPr>
    <p:cSldViewPr snapToGrid="0">
      <p:cViewPr varScale="1">
        <p:scale>
          <a:sx n="97" d="100"/>
          <a:sy n="97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952F1-6B9D-0545-831C-6683B63D35DA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94619-98BE-AA4E-81AF-2CB3409BB9F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676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8777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2006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25216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94619-98BE-AA4E-81AF-2CB3409BB9F4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6606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05B24-AA75-6C95-9D84-5FF017F9D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8975AA-5920-8962-CB24-156B817C3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EB6601-71D2-5C6A-1C3A-DD61C930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F846F-7E60-28C7-1958-3B99ED0C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7CB412-C9EC-9ADD-48E4-1489469C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718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EADF3-4FB6-09B8-0275-B75C772D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35897-47C0-812B-5B21-DDAFE9F5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390A5-4942-69D7-267C-F082C157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AF0100-86F7-9E6D-AAF7-A2969B7F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9F613-725B-BCD1-EE6F-EB262A95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814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B58FA-3FB6-B9F6-CE63-4B786D0D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4A2137-FF9F-9FE4-2B34-3D8FEB573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798D9-C266-46C2-EB26-AFB0C797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5E72B1-3C62-BAEB-286D-D59D9DC1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751CCF-8A32-FA76-30FE-1DBD8D7F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581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DD7D9-9A15-6162-B353-11B56AB4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FBF15B-EA6B-4834-5681-01E682BCC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41F1E7-B0D4-AE01-9274-27A427289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B82BAD-F043-4A1A-2A20-392867FB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91EFF4-FA29-BF21-CEE3-339E9FDA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EBC5F2-3A9E-C01D-691F-7E0BA67C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3858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B0009-5731-FF43-1FC6-818D3CC7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EFD306-B97A-0B58-49D7-FCBBBDDBD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C24C60-6938-89F2-8478-E7A4DC959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FF7ED1-56F5-3C5B-70FF-A85B62781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242946-9A53-4CF9-148E-601097070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2D687C-1BE3-08DE-7C6C-D408C8F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905258-562C-A961-FFEC-FD4BFF7A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6FD907-C3BD-7F50-4A88-2E3674C3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094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9271-1E97-7A4D-BEEA-A8E4D0E3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FEF17F-BB8F-B842-D937-C96F070F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EA1F25-361F-EE0A-816E-AE9E608D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C69AAD-70CB-5BC5-1CA1-FF99C28C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8289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321279-AAA5-C916-E1D5-06895E61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F0E49A-89C6-7476-D608-3267165D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9289A2-67D6-01E2-6360-AED215B6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40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A5D0E-FF22-EA2C-07F4-C0CBF54D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E17DE4-2D84-59C6-E543-23489559A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91325E-988E-77B4-DD00-CC9D7A2E7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F466BF-7E3A-45AC-C09D-7175C7BC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33D0B0-51AA-E464-555E-C451C909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3B9367-A166-6548-50C6-44D49784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504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251E0-4184-C25D-F479-3358AC33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70A429-63AD-5BF2-27D9-EE41C1566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EC4DB9-DE04-505D-E718-6BACEB0EB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B311CA-9ABF-4D8F-C396-8AF15ED5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99E489-1275-5DA3-4296-5EF1C7F5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EB9F5B-8A05-5B47-7666-52AF569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290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BD265-1AA5-6C34-B39B-8A98ECA3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38AF84-4E55-4512-E6A6-33CAD3793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401361-242E-9A35-EC38-E488E2B1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4631B-140E-5998-23E0-BDD9C360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5BDD65-2769-240B-FA02-F1190E53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345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286223-10A3-07BD-8C0E-C144AA294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F6FDD9-FA6F-7249-17AF-794517F2B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A7A967-9FFE-CB55-7372-2FE78877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926F35-727E-2689-2F5C-52FE6D75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C81EC5-A7E2-28B7-A4CE-45A2223D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575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A15198-A8AA-912B-94F7-BA676709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EC394E-69FB-B8E5-8471-EB87B4AEE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984053-72E9-0869-C5AD-882E709D0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79E6F-CCF1-CD4D-8DBB-EED7661607A7}" type="datetimeFigureOut">
              <a:rPr lang="es-ES_tradnl" smtClean="0"/>
              <a:t>9/1/24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DBFBAD-89AB-D9A1-92EB-E36B8032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9CBAFB-1F6F-5102-3CAD-8AB386AEF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EA288-B150-B74A-B544-0E9AF9D1980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8680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944FD3-AA52-64AD-6CB6-E0FDA1E34C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58" t="3041" r="12937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684516-ED41-4131-F9C2-14DC29BA9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781387"/>
            <a:ext cx="6268809" cy="2407928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_tradnl" sz="4800" dirty="0">
                <a:solidFill>
                  <a:schemeClr val="bg1"/>
                </a:solidFill>
              </a:rPr>
              <a:t>Redes Neuronales Artificiales.</a:t>
            </a:r>
            <a:br>
              <a:rPr lang="es-ES_tradnl" sz="4800" dirty="0">
                <a:solidFill>
                  <a:schemeClr val="bg1"/>
                </a:solidFill>
              </a:rPr>
            </a:br>
            <a:r>
              <a:rPr lang="es-ES_tradnl" sz="4800" dirty="0">
                <a:solidFill>
                  <a:schemeClr val="bg1"/>
                </a:solidFill>
              </a:rPr>
              <a:t>Neurona de </a:t>
            </a:r>
            <a:r>
              <a:rPr lang="es-ES_tradnl" sz="4800" dirty="0" err="1">
                <a:solidFill>
                  <a:schemeClr val="bg1"/>
                </a:solidFill>
              </a:rPr>
              <a:t>Mcculloch</a:t>
            </a:r>
            <a:r>
              <a:rPr lang="es-ES_tradnl" sz="4800" dirty="0">
                <a:solidFill>
                  <a:schemeClr val="bg1"/>
                </a:solidFill>
              </a:rPr>
              <a:t> y Pitts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7BA836D-9818-A528-4CDD-85701134F22F}"/>
              </a:ext>
            </a:extLst>
          </p:cNvPr>
          <p:cNvSpPr txBox="1">
            <a:spLocks/>
          </p:cNvSpPr>
          <p:nvPr/>
        </p:nvSpPr>
        <p:spPr>
          <a:xfrm>
            <a:off x="1185117" y="6236829"/>
            <a:ext cx="5490334" cy="51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000" dirty="0">
                <a:solidFill>
                  <a:schemeClr val="bg1"/>
                </a:solidFill>
              </a:rPr>
              <a:t>Universidad Autónoma del Estado de México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820874-2CAF-57CE-2421-DC5AB3188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414" y="3671107"/>
            <a:ext cx="2705100" cy="27051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6006030-70DE-CD0C-14DE-E403AB694518}"/>
              </a:ext>
            </a:extLst>
          </p:cNvPr>
          <p:cNvSpPr txBox="1"/>
          <p:nvPr/>
        </p:nvSpPr>
        <p:spPr>
          <a:xfrm>
            <a:off x="8658246" y="6382121"/>
            <a:ext cx="337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Dr. Cuauhtémoc hidalgo Cortés</a:t>
            </a:r>
          </a:p>
        </p:txBody>
      </p:sp>
    </p:spTree>
    <p:extLst>
      <p:ext uri="{BB962C8B-B14F-4D97-AF65-F5344CB8AC3E}">
        <p14:creationId xmlns:p14="http://schemas.microsoft.com/office/powerpoint/2010/main" val="88360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51C318-4FA6-2825-44A7-F2C946137D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</a:blip>
          <a:srcRect l="23534" r="2442"/>
          <a:stretch/>
        </p:blipFill>
        <p:spPr>
          <a:xfrm>
            <a:off x="2519309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84860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Neurona de </a:t>
            </a:r>
            <a:r>
              <a:rPr lang="es-ES_tradnl" sz="4000" dirty="0" err="1"/>
              <a:t>Mcculloch</a:t>
            </a:r>
            <a:r>
              <a:rPr lang="es-ES_tradnl" sz="4000" dirty="0"/>
              <a:t> y Pitts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2" y="4110747"/>
            <a:ext cx="11639556" cy="256834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Symbol" pitchFamily="2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Corresponde con la primera neurona artificial de la historia </a:t>
            </a:r>
            <a:endParaRPr lang="es-ES_tradnl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Se caracteriza porque recibe uno o más valores binarios {1, 0} y retorna otro valor binario {1, 0}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Activa su salida cuando más de un número determinado de valores de entrada se encuentra activos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s-ES_tradnl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Debe establecerse manualmente el número de valores de entrada que deben estar activos, a este valor se le denomina </a:t>
            </a:r>
            <a:r>
              <a:rPr lang="es-ES_tradnl" sz="2400" b="1" i="1" dirty="0" err="1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threshold</a:t>
            </a:r>
            <a:endParaRPr lang="es-ES_tradnl" sz="2400" dirty="0"/>
          </a:p>
        </p:txBody>
      </p:sp>
      <p:pic>
        <p:nvPicPr>
          <p:cNvPr id="14338" name="Picture 2" descr="06. Neurona de McCulloch - Pitts - YouTube">
            <a:extLst>
              <a:ext uri="{FF2B5EF4-FFF2-40B4-BE49-F238E27FC236}">
                <a16:creationId xmlns:a16="http://schemas.microsoft.com/office/drawing/2014/main" id="{3575138F-0F66-3A2D-277F-B966FB84F5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5" t="31594" r="11358" b="7546"/>
          <a:stretch/>
        </p:blipFill>
        <p:spPr bwMode="auto">
          <a:xfrm>
            <a:off x="2516259" y="858291"/>
            <a:ext cx="7211844" cy="30735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58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51C318-4FA6-2825-44A7-F2C946137D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</a:blip>
          <a:srcRect l="23534" r="2442"/>
          <a:stretch/>
        </p:blipFill>
        <p:spPr>
          <a:xfrm>
            <a:off x="252814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1920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Funcionamiento de la Neurona M-P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9330" y="1124465"/>
            <a:ext cx="4512594" cy="2568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Ejemplo: ¿Voy al cine hoy?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¿Es fin de semana?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¿No tengo tarea que realizar?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¿Está el cine cerrado?</a:t>
            </a:r>
          </a:p>
          <a:p>
            <a:r>
              <a:rPr lang="es-ES" sz="2400" dirty="0"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¿Estrenan película hoy?</a:t>
            </a:r>
            <a:endParaRPr lang="es-ES_tradnl" sz="2400" dirty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1850258-5191-7BA6-B543-B2B60AF2699A}"/>
              </a:ext>
            </a:extLst>
          </p:cNvPr>
          <p:cNvGrpSpPr/>
          <p:nvPr/>
        </p:nvGrpSpPr>
        <p:grpSpPr>
          <a:xfrm>
            <a:off x="1914846" y="1477223"/>
            <a:ext cx="3196886" cy="1389107"/>
            <a:chOff x="827452" y="1135854"/>
            <a:chExt cx="3196886" cy="1389107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47FB7EC9-3F34-778A-023E-F6764527C6FF}"/>
                </a:ext>
              </a:extLst>
            </p:cNvPr>
            <p:cNvGrpSpPr/>
            <p:nvPr/>
          </p:nvGrpSpPr>
          <p:grpSpPr>
            <a:xfrm>
              <a:off x="1978931" y="1322200"/>
              <a:ext cx="1074656" cy="1102937"/>
              <a:chOff x="1978931" y="1322200"/>
              <a:chExt cx="1074656" cy="1102937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76554880-70D9-6B6A-2CC4-022EB2D1E791}"/>
                  </a:ext>
                </a:extLst>
              </p:cNvPr>
              <p:cNvSpPr/>
              <p:nvPr/>
            </p:nvSpPr>
            <p:spPr>
              <a:xfrm>
                <a:off x="1978931" y="1322200"/>
                <a:ext cx="1074656" cy="1102937"/>
              </a:xfrm>
              <a:prstGeom prst="ellipse">
                <a:avLst/>
              </a:prstGeom>
              <a:ln w="254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C7DFA92D-413F-ABC1-B93E-2DB7CB22E6E9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2516259" y="1322200"/>
                <a:ext cx="0" cy="1102937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B06AFF4A-8EF7-E98A-B253-F79C60AAA3DF}"/>
                    </a:ext>
                  </a:extLst>
                </p:cNvPr>
                <p:cNvSpPr txBox="1"/>
                <p:nvPr/>
              </p:nvSpPr>
              <p:spPr>
                <a:xfrm>
                  <a:off x="2121160" y="1735168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s-ES_tradn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B06AFF4A-8EF7-E98A-B253-F79C60AAA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160" y="1735168"/>
                  <a:ext cx="39662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1D94F4B-A103-58CE-E501-1BF3E265C3A7}"/>
                    </a:ext>
                  </a:extLst>
                </p:cNvPr>
                <p:cNvSpPr txBox="1"/>
                <p:nvPr/>
              </p:nvSpPr>
              <p:spPr>
                <a:xfrm>
                  <a:off x="2531644" y="1732901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s-ES_tradn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1D94F4B-A103-58CE-E501-1BF3E265C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1644" y="1732901"/>
                  <a:ext cx="39662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DE34B9D1-212F-2829-B5FD-6EF508664A09}"/>
                    </a:ext>
                  </a:extLst>
                </p:cNvPr>
                <p:cNvSpPr txBox="1"/>
                <p:nvPr/>
              </p:nvSpPr>
              <p:spPr>
                <a:xfrm>
                  <a:off x="827452" y="1135854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DE34B9D1-212F-2829-B5FD-6EF508664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52" y="1135854"/>
                  <a:ext cx="39662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4DE25C0-DB1B-F779-F3DE-BC5DD58A1E4C}"/>
                    </a:ext>
                  </a:extLst>
                </p:cNvPr>
                <p:cNvSpPr txBox="1"/>
                <p:nvPr/>
              </p:nvSpPr>
              <p:spPr>
                <a:xfrm>
                  <a:off x="838200" y="1483865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4DE25C0-DB1B-F779-F3DE-BC5DD58A1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483865"/>
                  <a:ext cx="396624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5610437-8890-3F2C-F3F8-B08689F393A2}"/>
                    </a:ext>
                  </a:extLst>
                </p:cNvPr>
                <p:cNvSpPr txBox="1"/>
                <p:nvPr/>
              </p:nvSpPr>
              <p:spPr>
                <a:xfrm>
                  <a:off x="838200" y="1871400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5610437-8890-3F2C-F3F8-B08689F39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871400"/>
                  <a:ext cx="396624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B22C509-E8D2-8C01-BD2E-421B8973F484}"/>
                    </a:ext>
                  </a:extLst>
                </p:cNvPr>
                <p:cNvSpPr txBox="1"/>
                <p:nvPr/>
              </p:nvSpPr>
              <p:spPr>
                <a:xfrm>
                  <a:off x="838200" y="2247962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ES_tradn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B22C509-E8D2-8C01-BD2E-421B8973F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47962"/>
                  <a:ext cx="396624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D23B87FB-7F3B-4D51-4E67-A848B394E29F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60" y="1384302"/>
              <a:ext cx="860256" cy="238062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6663C394-5616-04D8-36C1-8E003AEAA72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60" y="1652366"/>
              <a:ext cx="744107" cy="11053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426BAB1F-EFF0-C641-3739-7289609DF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4700" y="1938888"/>
              <a:ext cx="744107" cy="136231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FB2A5805-FD11-FA5E-94B8-1A26A760741D}"/>
                </a:ext>
              </a:extLst>
            </p:cNvPr>
            <p:cNvCxnSpPr>
              <a:stCxn id="17" idx="3"/>
            </p:cNvCxnSpPr>
            <p:nvPr/>
          </p:nvCxnSpPr>
          <p:spPr>
            <a:xfrm flipV="1">
              <a:off x="1234824" y="2148399"/>
              <a:ext cx="810792" cy="238063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B48152F2-1743-691B-6350-516C7ABAB799}"/>
                </a:ext>
              </a:extLst>
            </p:cNvPr>
            <p:cNvCxnSpPr>
              <a:stCxn id="4" idx="6"/>
            </p:cNvCxnSpPr>
            <p:nvPr/>
          </p:nvCxnSpPr>
          <p:spPr>
            <a:xfrm flipV="1">
              <a:off x="3053587" y="1871400"/>
              <a:ext cx="641543" cy="226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F8CB326A-DF2C-CF38-4126-E2F4FF639F9D}"/>
                    </a:ext>
                  </a:extLst>
                </p:cNvPr>
                <p:cNvSpPr txBox="1"/>
                <p:nvPr/>
              </p:nvSpPr>
              <p:spPr>
                <a:xfrm>
                  <a:off x="3627714" y="1707634"/>
                  <a:ext cx="3966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F8CB326A-DF2C-CF38-4126-E2F4FF639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714" y="1707634"/>
                  <a:ext cx="396624" cy="276999"/>
                </a:xfrm>
                <a:prstGeom prst="rect">
                  <a:avLst/>
                </a:prstGeom>
                <a:blipFill>
                  <a:blip r:embed="rId10"/>
                  <a:stretch>
                    <a:fillRect t="-17391" b="-26087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3771E72-A873-4B46-9970-9DE7CD9ECA0D}"/>
              </a:ext>
            </a:extLst>
          </p:cNvPr>
          <p:cNvSpPr txBox="1"/>
          <p:nvPr/>
        </p:nvSpPr>
        <p:spPr>
          <a:xfrm>
            <a:off x="1272164" y="1011230"/>
            <a:ext cx="240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i="1" dirty="0"/>
              <a:t>función de agregación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4CB61B4-26E9-EE27-F2F4-7650B24E082E}"/>
              </a:ext>
            </a:extLst>
          </p:cNvPr>
          <p:cNvSpPr txBox="1"/>
          <p:nvPr/>
        </p:nvSpPr>
        <p:spPr>
          <a:xfrm>
            <a:off x="2504350" y="2992526"/>
            <a:ext cx="240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i="1" dirty="0"/>
              <a:t>función de decisión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74225BCE-BC3A-2339-A8E9-9AEA5D8BCB21}"/>
              </a:ext>
            </a:extLst>
          </p:cNvPr>
          <p:cNvCxnSpPr>
            <a:cxnSpLocks/>
          </p:cNvCxnSpPr>
          <p:nvPr/>
        </p:nvCxnSpPr>
        <p:spPr>
          <a:xfrm>
            <a:off x="2867286" y="1292362"/>
            <a:ext cx="539580" cy="6713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B9E5584-1F1E-EF3A-65DA-5B953C14C5FA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661037" y="2351269"/>
            <a:ext cx="156313" cy="712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73B6F9F4-DBB7-4391-DC92-760FA2CB5926}"/>
              </a:ext>
            </a:extLst>
          </p:cNvPr>
          <p:cNvGrpSpPr/>
          <p:nvPr/>
        </p:nvGrpSpPr>
        <p:grpSpPr>
          <a:xfrm>
            <a:off x="4376132" y="2727830"/>
            <a:ext cx="1916969" cy="886592"/>
            <a:chOff x="5658107" y="2524615"/>
            <a:chExt cx="1916969" cy="886592"/>
          </a:xfrm>
        </p:grpSpPr>
        <p:sp>
          <p:nvSpPr>
            <p:cNvPr id="41" name="Abrir llave 40">
              <a:extLst>
                <a:ext uri="{FF2B5EF4-FFF2-40B4-BE49-F238E27FC236}">
                  <a16:creationId xmlns:a16="http://schemas.microsoft.com/office/drawing/2014/main" id="{0752047D-9055-2CCA-DAA4-AD67C13F51A7}"/>
                </a:ext>
              </a:extLst>
            </p:cNvPr>
            <p:cNvSpPr/>
            <p:nvPr/>
          </p:nvSpPr>
          <p:spPr>
            <a:xfrm>
              <a:off x="5658107" y="2524615"/>
              <a:ext cx="353989" cy="88659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B342C8F4-3CA9-93B4-DEC5-13183AB03184}"/>
                </a:ext>
              </a:extLst>
            </p:cNvPr>
            <p:cNvSpPr txBox="1"/>
            <p:nvPr/>
          </p:nvSpPr>
          <p:spPr>
            <a:xfrm>
              <a:off x="5827283" y="2644745"/>
              <a:ext cx="17477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/>
                <a:t>1: Sí voy al cine</a:t>
              </a:r>
            </a:p>
            <a:p>
              <a:r>
                <a:rPr lang="es-ES_tradnl" dirty="0"/>
                <a:t>0: No voy al cine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8716746B-2D52-AD32-7C1D-B8B57BC2E0E1}"/>
                  </a:ext>
                </a:extLst>
              </p:cNvPr>
              <p:cNvSpPr txBox="1"/>
              <p:nvPr/>
            </p:nvSpPr>
            <p:spPr>
              <a:xfrm>
                <a:off x="588900" y="3959568"/>
                <a:ext cx="22694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8716746B-2D52-AD32-7C1D-B8B57BC2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00" y="3959568"/>
                <a:ext cx="2269467" cy="276999"/>
              </a:xfrm>
              <a:prstGeom prst="rect">
                <a:avLst/>
              </a:prstGeom>
              <a:blipFill>
                <a:blip r:embed="rId11"/>
                <a:stretch>
                  <a:fillRect l="-556" t="-4545" r="-2778" b="-3636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293183D-7D74-EB72-771E-5AFE597BF221}"/>
                  </a:ext>
                </a:extLst>
              </p:cNvPr>
              <p:cNvSpPr txBox="1"/>
              <p:nvPr/>
            </p:nvSpPr>
            <p:spPr>
              <a:xfrm>
                <a:off x="550148" y="4368214"/>
                <a:ext cx="3472617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293183D-7D74-EB72-771E-5AFE597BF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48" y="4368214"/>
                <a:ext cx="3472617" cy="756233"/>
              </a:xfrm>
              <a:prstGeom prst="rect">
                <a:avLst/>
              </a:prstGeom>
              <a:blipFill>
                <a:blip r:embed="rId12"/>
                <a:stretch>
                  <a:fillRect l="-1095" t="-120000" b="-18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uadroTexto 47">
            <a:extLst>
              <a:ext uri="{FF2B5EF4-FFF2-40B4-BE49-F238E27FC236}">
                <a16:creationId xmlns:a16="http://schemas.microsoft.com/office/drawing/2014/main" id="{6236B1D3-967B-C256-20E0-E178AB8C45C4}"/>
              </a:ext>
            </a:extLst>
          </p:cNvPr>
          <p:cNvSpPr txBox="1"/>
          <p:nvPr/>
        </p:nvSpPr>
        <p:spPr>
          <a:xfrm>
            <a:off x="588900" y="5124447"/>
            <a:ext cx="254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Donde: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4F593F8-2A51-7F87-399C-CCAF9E67146E}"/>
                  </a:ext>
                </a:extLst>
              </p:cNvPr>
              <p:cNvSpPr txBox="1"/>
              <p:nvPr/>
            </p:nvSpPr>
            <p:spPr>
              <a:xfrm>
                <a:off x="651244" y="5529558"/>
                <a:ext cx="34578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=# 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𝑐𝑎𝑟𝑎𝑐𝑡𝑒𝑟</m:t>
                      </m:r>
                      <m:r>
                        <a:rPr lang="es-E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𝑠𝑡𝑖𝑐𝑎𝑠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𝑒𝑛𝑡𝑟𝑎𝑑𝑎</m:t>
                      </m:r>
                    </m:oMath>
                  </m:oMathPara>
                </a14:m>
                <a:endParaRPr lang="es-ES_tradn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4F593F8-2A51-7F87-399C-CCAF9E671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44" y="5529558"/>
                <a:ext cx="3457870" cy="276999"/>
              </a:xfrm>
              <a:prstGeom prst="rect">
                <a:avLst/>
              </a:prstGeom>
              <a:blipFill>
                <a:blip r:embed="rId13"/>
                <a:stretch>
                  <a:fillRect l="-733" t="-8696" r="-1099"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24BDC26-8357-EAB4-023A-B8AF651C2963}"/>
                  </a:ext>
                </a:extLst>
              </p:cNvPr>
              <p:cNvSpPr txBox="1"/>
              <p:nvPr/>
            </p:nvSpPr>
            <p:spPr>
              <a:xfrm>
                <a:off x="4489651" y="3808669"/>
                <a:ext cx="3105145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1,   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s-E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)&lt;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s-E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24BDC26-8357-EAB4-023A-B8AF651C2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651" y="3808669"/>
                <a:ext cx="3105145" cy="617861"/>
              </a:xfrm>
              <a:prstGeom prst="rect">
                <a:avLst/>
              </a:prstGeom>
              <a:blipFill>
                <a:blip r:embed="rId14"/>
                <a:stretch>
                  <a:fillRect l="-813" t="-230612" r="-2033" b="-3306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uadroTexto 50">
            <a:extLst>
              <a:ext uri="{FF2B5EF4-FFF2-40B4-BE49-F238E27FC236}">
                <a16:creationId xmlns:a16="http://schemas.microsoft.com/office/drawing/2014/main" id="{06470CFD-2BE5-3BD9-0FBB-71BB8B771FDA}"/>
              </a:ext>
            </a:extLst>
          </p:cNvPr>
          <p:cNvSpPr txBox="1"/>
          <p:nvPr/>
        </p:nvSpPr>
        <p:spPr>
          <a:xfrm>
            <a:off x="4469427" y="4460825"/>
            <a:ext cx="254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Donde: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F375563-4162-C424-09C0-2C8451475E6C}"/>
                  </a:ext>
                </a:extLst>
              </p:cNvPr>
              <p:cNvSpPr txBox="1"/>
              <p:nvPr/>
            </p:nvSpPr>
            <p:spPr>
              <a:xfrm>
                <a:off x="4825469" y="4830157"/>
                <a:ext cx="27305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𝑈𝑚𝑏𝑟𝑎𝑙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𝑎𝑐𝑡𝑖𝑣𝑎𝑐𝑖</m:t>
                      </m:r>
                      <m:r>
                        <a:rPr lang="es-ES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ó</m:t>
                      </m:r>
                      <m:r>
                        <a:rPr lang="es-E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ES_tradnl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F375563-4162-C424-09C0-2C8451475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469" y="4830157"/>
                <a:ext cx="2730556" cy="276999"/>
              </a:xfrm>
              <a:prstGeom prst="rect">
                <a:avLst/>
              </a:prstGeom>
              <a:blipFill>
                <a:blip r:embed="rId15"/>
                <a:stretch>
                  <a:fillRect l="-1852" t="-8696" r="-463" b="-347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2AEC1C18-A4E7-D1C0-8269-CBA4DE067C37}"/>
              </a:ext>
            </a:extLst>
          </p:cNvPr>
          <p:cNvSpPr txBox="1"/>
          <p:nvPr/>
        </p:nvSpPr>
        <p:spPr>
          <a:xfrm>
            <a:off x="8991535" y="3768327"/>
            <a:ext cx="1726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Tipos de 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i="1" dirty="0">
                <a:solidFill>
                  <a:schemeClr val="accent1"/>
                </a:solidFill>
              </a:rPr>
              <a:t>excitadores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i="1" dirty="0">
                <a:solidFill>
                  <a:schemeClr val="accent2"/>
                </a:solidFill>
              </a:rPr>
              <a:t>inhibidores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738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51C318-4FA6-2825-44A7-F2C946137D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</a:blip>
          <a:srcRect l="23534" r="2442"/>
          <a:stretch/>
        </p:blipFill>
        <p:spPr>
          <a:xfrm>
            <a:off x="2519309" y="197973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1858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Limitaciones de la Neurona M-P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223"/>
            <a:ext cx="11350751" cy="358904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Recibe únicamente valores binarios {1, 0}, en la mayoría de los problemas reales se dispondrá de valores de otros tipos.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Requiere la selección del </a:t>
            </a:r>
            <a:r>
              <a:rPr lang="es-ES_tradnl" sz="2000" b="1" i="1" dirty="0" err="1"/>
              <a:t>threshold</a:t>
            </a:r>
            <a:r>
              <a:rPr lang="es-ES_tradnl" sz="2000" b="1" i="1" dirty="0"/>
              <a:t> </a:t>
            </a:r>
            <a:r>
              <a:rPr lang="es-ES_tradnl" sz="2000" dirty="0"/>
              <a:t> de manera manual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Todas las entradas son iguales. No se le puede asignar un mayor peso a una de las entradas.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No son capaces de resolver problemas que no sean linealmente separables, por ejemplo, la operación XOR</a:t>
            </a:r>
          </a:p>
        </p:txBody>
      </p:sp>
      <p:pic>
        <p:nvPicPr>
          <p:cNvPr id="16386" name="Picture 2" descr="05.1 Redes Neuronales Introducción — Introducción al Aprendizaje Automático">
            <a:extLst>
              <a:ext uri="{FF2B5EF4-FFF2-40B4-BE49-F238E27FC236}">
                <a16:creationId xmlns:a16="http://schemas.microsoft.com/office/drawing/2014/main" id="{23339BD2-06ED-DA1A-0A9A-95796FD52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75" y="3879650"/>
            <a:ext cx="5143406" cy="2613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C06B1D4-84F4-2F38-21F5-154330B36B37}"/>
              </a:ext>
            </a:extLst>
          </p:cNvPr>
          <p:cNvSpPr txBox="1"/>
          <p:nvPr/>
        </p:nvSpPr>
        <p:spPr>
          <a:xfrm>
            <a:off x="7886619" y="3365358"/>
            <a:ext cx="1977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i="1" dirty="0">
                <a:solidFill>
                  <a:schemeClr val="accent1"/>
                </a:solidFill>
              </a:rPr>
              <a:t>Perceptrón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5E9F12-D626-20B8-6A7A-603E0A9A9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495" y="4103359"/>
            <a:ext cx="2451100" cy="2362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Flecha derecha 6">
            <a:extLst>
              <a:ext uri="{FF2B5EF4-FFF2-40B4-BE49-F238E27FC236}">
                <a16:creationId xmlns:a16="http://schemas.microsoft.com/office/drawing/2014/main" id="{04C76BB9-5591-3503-564E-95703021F699}"/>
              </a:ext>
            </a:extLst>
          </p:cNvPr>
          <p:cNvSpPr/>
          <p:nvPr/>
        </p:nvSpPr>
        <p:spPr>
          <a:xfrm>
            <a:off x="4541890" y="5018252"/>
            <a:ext cx="1307623" cy="491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2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51C318-4FA6-2825-44A7-F2C946137D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</a:blip>
          <a:srcRect l="23534" r="2442"/>
          <a:stretch/>
        </p:blipFill>
        <p:spPr>
          <a:xfrm>
            <a:off x="2519309" y="197973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CEA2AC-513B-C630-CD3A-8ED0F2F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1858" cy="746983"/>
          </a:xfrm>
        </p:spPr>
        <p:txBody>
          <a:bodyPr>
            <a:normAutofit/>
          </a:bodyPr>
          <a:lstStyle/>
          <a:p>
            <a:r>
              <a:rPr lang="es-ES_tradnl" sz="4000" dirty="0"/>
              <a:t>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BA128C-E847-53ED-DE39-79434F70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223"/>
            <a:ext cx="6397487" cy="358904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Realizar la práctica de Implementación de Neurona MP contenida en el cuadernillo de </a:t>
            </a:r>
            <a:r>
              <a:rPr lang="es-ES_tradnl" sz="2000" i="1" dirty="0" err="1"/>
              <a:t>Jupyter</a:t>
            </a:r>
            <a:r>
              <a:rPr lang="es-ES_tradnl" sz="2000" dirty="0"/>
              <a:t> que se encuentra en el archivo </a:t>
            </a:r>
            <a:r>
              <a:rPr lang="es-ES_tradnl" sz="2000" b="1" i="1" dirty="0" err="1"/>
              <a:t>Implementando_Neuorna_MP.pdf</a:t>
            </a:r>
            <a:r>
              <a:rPr lang="es-ES_tradnl" sz="2000" b="1" i="1" dirty="0"/>
              <a:t>  </a:t>
            </a:r>
            <a:r>
              <a:rPr lang="es-ES_tradnl" sz="2000" dirty="0"/>
              <a:t>que se encuentra en el área de materiales.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Realice un reporte de ejecución, donde integre las capturas de pantalla de la ejecución y la conclusión a la que llega después de probar el modelo para operaciones AND y OR.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_tradnl" sz="2000" dirty="0"/>
              <a:t>Suba el documento en formato PDF y entréguelo en la actividad de portafolio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2229756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C759A26DDD95F42AD7B6E096F232C9E" ma:contentTypeVersion="10" ma:contentTypeDescription="Crear nuevo documento." ma:contentTypeScope="" ma:versionID="7a9c97f319bfb09e09903bbfd18e5f56">
  <xsd:schema xmlns:xsd="http://www.w3.org/2001/XMLSchema" xmlns:xs="http://www.w3.org/2001/XMLSchema" xmlns:p="http://schemas.microsoft.com/office/2006/metadata/properties" xmlns:ns2="8b7dc593-f8dc-4a12-bdf3-9aa634159da0" targetNamespace="http://schemas.microsoft.com/office/2006/metadata/properties" ma:root="true" ma:fieldsID="6c9a2b6e2e65448b0d87fc0fd6d1e73f" ns2:_="">
    <xsd:import namespace="8b7dc593-f8dc-4a12-bdf3-9aa634159d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7dc593-f8dc-4a12-bdf3-9aa634159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b653b1c0-f410-437d-8ee7-1cf68b209f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7dc593-f8dc-4a12-bdf3-9aa634159d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37A779-3E2E-411E-B14A-A6A8B1AC2F9B}"/>
</file>

<file path=customXml/itemProps2.xml><?xml version="1.0" encoding="utf-8"?>
<ds:datastoreItem xmlns:ds="http://schemas.openxmlformats.org/officeDocument/2006/customXml" ds:itemID="{41074F39-9284-429A-9570-4ABF12E55AD4}"/>
</file>

<file path=customXml/itemProps3.xml><?xml version="1.0" encoding="utf-8"?>
<ds:datastoreItem xmlns:ds="http://schemas.openxmlformats.org/officeDocument/2006/customXml" ds:itemID="{C1B9365F-CDAB-47AF-9776-603D8DC0083F}"/>
</file>

<file path=docProps/app.xml><?xml version="1.0" encoding="utf-8"?>
<Properties xmlns="http://schemas.openxmlformats.org/officeDocument/2006/extended-properties" xmlns:vt="http://schemas.openxmlformats.org/officeDocument/2006/docPropsVTypes">
  <TotalTime>9270</TotalTime>
  <Words>362</Words>
  <Application>Microsoft Macintosh PowerPoint</Application>
  <PresentationFormat>Panorámica</PresentationFormat>
  <Paragraphs>49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Symbol</vt:lpstr>
      <vt:lpstr>Tema de Office</vt:lpstr>
      <vt:lpstr>Redes Neuronales Artificiales. Neurona de Mcculloch y Pitts</vt:lpstr>
      <vt:lpstr>Neurona de Mcculloch y Pitts</vt:lpstr>
      <vt:lpstr>Funcionamiento de la Neurona M-P</vt:lpstr>
      <vt:lpstr>Limitaciones de la Neurona M-P</vt:lpstr>
      <vt:lpstr>Actividad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</dc:title>
  <dc:creator>Cuauhtemoc Hidalgo Cortes</dc:creator>
  <cp:lastModifiedBy>Cuauhtemoc Hidalgo Cortes</cp:lastModifiedBy>
  <cp:revision>17</cp:revision>
  <dcterms:created xsi:type="dcterms:W3CDTF">2023-10-02T17:39:02Z</dcterms:created>
  <dcterms:modified xsi:type="dcterms:W3CDTF">2024-01-10T00:53:44Z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0x010100AC759A26DDD95F42AD7B6E096F232C9E</vt:lpwstr>
  </property>
</Properties>
</file>